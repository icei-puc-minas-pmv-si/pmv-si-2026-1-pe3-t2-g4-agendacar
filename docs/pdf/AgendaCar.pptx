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Helvetica Now" charset="1" panose="020B0504030202020204"/>
      <p:regular r:id="rId23"/>
    </p:embeddedFont>
    <p:embeddedFont>
      <p:font typeface="Helvetica Now Bold" charset="1" panose="020B080403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Relationship Id="rId7" Target="../media/image19.jpeg" Type="http://schemas.openxmlformats.org/officeDocument/2006/relationships/image"/><Relationship Id="rId8" Target="../media/image2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jpeg" Type="http://schemas.openxmlformats.org/officeDocument/2006/relationships/image"/><Relationship Id="rId2" Target="../media/image2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Relationship Id="rId7" Target="../media/image24.jpeg" Type="http://schemas.openxmlformats.org/officeDocument/2006/relationships/image"/><Relationship Id="rId8" Target="../media/image25.jpe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3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3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0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0743343" y="2742343"/>
            <a:ext cx="10287000" cy="4802314"/>
            <a:chOff x="0" y="0"/>
            <a:chExt cx="2709333" cy="12648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3" cy="1264807"/>
            </a:xfrm>
            <a:custGeom>
              <a:avLst/>
              <a:gdLst/>
              <a:ahLst/>
              <a:cxnLst/>
              <a:rect r="r" b="b" t="t" l="l"/>
              <a:pathLst>
                <a:path h="126480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1264807"/>
                  </a:lnTo>
                  <a:lnTo>
                    <a:pt x="0" y="1264807"/>
                  </a:lnTo>
                  <a:close/>
                </a:path>
              </a:pathLst>
            </a:custGeom>
            <a:solidFill>
              <a:srgbClr val="004BBD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09333" cy="130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8562651" y="1590351"/>
            <a:ext cx="9846070" cy="7547229"/>
          </a:xfrm>
          <a:custGeom>
            <a:avLst/>
            <a:gdLst/>
            <a:ahLst/>
            <a:cxnLst/>
            <a:rect r="r" b="b" t="t" l="l"/>
            <a:pathLst>
              <a:path h="7547229" w="9846070">
                <a:moveTo>
                  <a:pt x="0" y="0"/>
                </a:moveTo>
                <a:lnTo>
                  <a:pt x="9846069" y="0"/>
                </a:lnTo>
                <a:lnTo>
                  <a:pt x="9846069" y="7547229"/>
                </a:lnTo>
                <a:lnTo>
                  <a:pt x="0" y="7547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484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7422" y="1554338"/>
            <a:ext cx="8678899" cy="5434820"/>
          </a:xfrm>
          <a:custGeom>
            <a:avLst/>
            <a:gdLst/>
            <a:ahLst/>
            <a:cxnLst/>
            <a:rect r="r" b="b" t="t" l="l"/>
            <a:pathLst>
              <a:path h="5434820" w="8678899">
                <a:moveTo>
                  <a:pt x="0" y="0"/>
                </a:moveTo>
                <a:lnTo>
                  <a:pt x="8678899" y="0"/>
                </a:lnTo>
                <a:lnTo>
                  <a:pt x="8678899" y="5434819"/>
                </a:lnTo>
                <a:lnTo>
                  <a:pt x="0" y="54348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1" t="0" r="-15989" b="-12432"/>
            </a:stretch>
          </a:blipFill>
          <a:ln w="38100" cap="sq">
            <a:solidFill>
              <a:srgbClr val="CC4E00"/>
            </a:solidFill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657422" y="7118159"/>
            <a:ext cx="8678899" cy="1770296"/>
            <a:chOff x="0" y="0"/>
            <a:chExt cx="2285800" cy="4662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5800" cy="466251"/>
            </a:xfrm>
            <a:custGeom>
              <a:avLst/>
              <a:gdLst/>
              <a:ahLst/>
              <a:cxnLst/>
              <a:rect r="r" b="b" t="t" l="l"/>
              <a:pathLst>
                <a:path h="466251" w="2285800">
                  <a:moveTo>
                    <a:pt x="0" y="0"/>
                  </a:moveTo>
                  <a:lnTo>
                    <a:pt x="2285800" y="0"/>
                  </a:lnTo>
                  <a:lnTo>
                    <a:pt x="2285800" y="466251"/>
                  </a:lnTo>
                  <a:lnTo>
                    <a:pt x="0" y="466251"/>
                  </a:lnTo>
                  <a:close/>
                </a:path>
              </a:pathLst>
            </a:custGeom>
            <a:solidFill>
              <a:srgbClr val="003077"/>
            </a:solidFill>
            <a:ln w="38100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285800" cy="523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 spc="303">
                  <a:solidFill>
                    <a:srgbClr val="FFFFFF"/>
                  </a:solidFill>
                  <a:latin typeface="Helvetica Now"/>
                  <a:ea typeface="Helvetica Now"/>
                  <a:cs typeface="Helvetica Now"/>
                  <a:sym typeface="Helvetica Now"/>
                </a:rPr>
                <a:t>Sistema de Agendamento de Serviços Automotivos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7422" y="440930"/>
            <a:ext cx="16983802" cy="954659"/>
            <a:chOff x="0" y="0"/>
            <a:chExt cx="4473100" cy="2514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73100" cy="251433"/>
            </a:xfrm>
            <a:custGeom>
              <a:avLst/>
              <a:gdLst/>
              <a:ahLst/>
              <a:cxnLst/>
              <a:rect r="r" b="b" t="t" l="l"/>
              <a:pathLst>
                <a:path h="251433" w="4473100">
                  <a:moveTo>
                    <a:pt x="0" y="0"/>
                  </a:moveTo>
                  <a:lnTo>
                    <a:pt x="4473100" y="0"/>
                  </a:lnTo>
                  <a:lnTo>
                    <a:pt x="4473100" y="251433"/>
                  </a:lnTo>
                  <a:lnTo>
                    <a:pt x="0" y="251433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73100" cy="30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 spc="303">
                  <a:solidFill>
                    <a:srgbClr val="000000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Sistemas de Informação</a:t>
              </a:r>
              <a:r>
                <a:rPr lang="en-US" b="true" sz="3199" spc="303">
                  <a:solidFill>
                    <a:srgbClr val="000000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 - PUC Minas Virtual - 2026/01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7422" y="9017457"/>
            <a:ext cx="8678899" cy="954659"/>
            <a:chOff x="0" y="0"/>
            <a:chExt cx="2285800" cy="2514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5800" cy="251433"/>
            </a:xfrm>
            <a:custGeom>
              <a:avLst/>
              <a:gdLst/>
              <a:ahLst/>
              <a:cxnLst/>
              <a:rect r="r" b="b" t="t" l="l"/>
              <a:pathLst>
                <a:path h="251433" w="2285800">
                  <a:moveTo>
                    <a:pt x="0" y="0"/>
                  </a:moveTo>
                  <a:lnTo>
                    <a:pt x="2285800" y="0"/>
                  </a:lnTo>
                  <a:lnTo>
                    <a:pt x="2285800" y="251433"/>
                  </a:lnTo>
                  <a:lnTo>
                    <a:pt x="0" y="251433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85800" cy="299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 spc="227">
                  <a:solidFill>
                    <a:srgbClr val="000000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Eixo 3: Orientadora Profa. Dra. Joana Souza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2723984" y="2742343"/>
            <a:ext cx="10287000" cy="4802314"/>
            <a:chOff x="0" y="0"/>
            <a:chExt cx="2709333" cy="12648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09333" cy="1264807"/>
            </a:xfrm>
            <a:custGeom>
              <a:avLst/>
              <a:gdLst/>
              <a:ahLst/>
              <a:cxnLst/>
              <a:rect r="r" b="b" t="t" l="l"/>
              <a:pathLst>
                <a:path h="1264807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1264807"/>
                  </a:lnTo>
                  <a:lnTo>
                    <a:pt x="0" y="1264807"/>
                  </a:lnTo>
                  <a:close/>
                </a:path>
              </a:pathLst>
            </a:custGeom>
            <a:solidFill>
              <a:srgbClr val="004BBD">
                <a:alpha val="2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09333" cy="130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8562651" y="1590351"/>
            <a:ext cx="9846070" cy="7547229"/>
          </a:xfrm>
          <a:custGeom>
            <a:avLst/>
            <a:gdLst/>
            <a:ahLst/>
            <a:cxnLst/>
            <a:rect r="r" b="b" t="t" l="l"/>
            <a:pathLst>
              <a:path h="7547229" w="9846070">
                <a:moveTo>
                  <a:pt x="0" y="0"/>
                </a:moveTo>
                <a:lnTo>
                  <a:pt x="9846069" y="0"/>
                </a:lnTo>
                <a:lnTo>
                  <a:pt x="9846069" y="7547229"/>
                </a:lnTo>
                <a:lnTo>
                  <a:pt x="0" y="75472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-6484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4206" y="3049334"/>
            <a:ext cx="5018614" cy="3142710"/>
          </a:xfrm>
          <a:custGeom>
            <a:avLst/>
            <a:gdLst/>
            <a:ahLst/>
            <a:cxnLst/>
            <a:rect r="r" b="b" t="t" l="l"/>
            <a:pathLst>
              <a:path h="3142710" w="5018614">
                <a:moveTo>
                  <a:pt x="0" y="0"/>
                </a:moveTo>
                <a:lnTo>
                  <a:pt x="5018613" y="0"/>
                </a:lnTo>
                <a:lnTo>
                  <a:pt x="5018613" y="3142710"/>
                </a:lnTo>
                <a:lnTo>
                  <a:pt x="0" y="3142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1" t="0" r="-15989" b="-12432"/>
            </a:stretch>
          </a:blipFill>
          <a:ln w="38100" cap="sq">
            <a:solidFill>
              <a:srgbClr val="CC4E00"/>
            </a:solidFill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6975461" y="440930"/>
            <a:ext cx="10283839" cy="8825750"/>
            <a:chOff x="0" y="0"/>
            <a:chExt cx="2708501" cy="23244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8501" cy="2324477"/>
            </a:xfrm>
            <a:custGeom>
              <a:avLst/>
              <a:gdLst/>
              <a:ahLst/>
              <a:cxnLst/>
              <a:rect r="r" b="b" t="t" l="l"/>
              <a:pathLst>
                <a:path h="2324477" w="2708501">
                  <a:moveTo>
                    <a:pt x="0" y="0"/>
                  </a:moveTo>
                  <a:lnTo>
                    <a:pt x="2708501" y="0"/>
                  </a:lnTo>
                  <a:lnTo>
                    <a:pt x="2708501" y="2324477"/>
                  </a:lnTo>
                  <a:lnTo>
                    <a:pt x="0" y="2324477"/>
                  </a:lnTo>
                  <a:close/>
                </a:path>
              </a:pathLst>
            </a:custGeom>
            <a:solidFill>
              <a:srgbClr val="003077"/>
            </a:solidFill>
            <a:ln w="38100" cap="sq">
              <a:solidFill>
                <a:srgbClr val="B4B4B4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708501" cy="2334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  <a:p>
              <a:pPr algn="ctr">
                <a:lnSpc>
                  <a:spcPts val="4479"/>
                </a:lnSpc>
              </a:pPr>
              <a:r>
                <a:rPr lang="en-US" b="true" sz="3199" spc="303">
                  <a:solidFill>
                    <a:srgbClr val="FFFFFF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NOSSO TIME</a:t>
              </a: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ctr">
                <a:lnSpc>
                  <a:spcPts val="4479"/>
                </a:lnSpc>
              </a:pPr>
            </a:p>
            <a:p>
              <a:pPr algn="just">
                <a:lnSpc>
                  <a:spcPts val="4479"/>
                </a:lnSpc>
              </a:pPr>
            </a:p>
            <a:p>
              <a:pPr algn="just">
                <a:lnSpc>
                  <a:spcPts val="4479"/>
                </a:lnSpc>
              </a:pPr>
            </a:p>
            <a:p>
              <a:pPr algn="just">
                <a:lnSpc>
                  <a:spcPts val="4479"/>
                </a:lnSpc>
              </a:pPr>
            </a:p>
            <a:p>
              <a:pPr algn="just">
                <a:lnSpc>
                  <a:spcPts val="4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16116" y="1527131"/>
            <a:ext cx="1351319" cy="1351319"/>
            <a:chOff x="0" y="0"/>
            <a:chExt cx="2362200" cy="2362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622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2362200">
                  <a:moveTo>
                    <a:pt x="1181100" y="0"/>
                  </a:moveTo>
                  <a:cubicBezTo>
                    <a:pt x="528797" y="0"/>
                    <a:pt x="0" y="528797"/>
                    <a:pt x="0" y="1181100"/>
                  </a:cubicBezTo>
                  <a:cubicBezTo>
                    <a:pt x="0" y="1833404"/>
                    <a:pt x="528797" y="2362200"/>
                    <a:pt x="1181100" y="2362200"/>
                  </a:cubicBezTo>
                  <a:cubicBezTo>
                    <a:pt x="1833404" y="2362200"/>
                    <a:pt x="2362200" y="1833404"/>
                    <a:pt x="2362200" y="1181100"/>
                  </a:cubicBezTo>
                  <a:cubicBezTo>
                    <a:pt x="2362200" y="528797"/>
                    <a:pt x="1833404" y="0"/>
                    <a:pt x="1181100" y="0"/>
                  </a:cubicBezTo>
                  <a:lnTo>
                    <a:pt x="1181100" y="0"/>
                  </a:lnTo>
                  <a:close/>
                </a:path>
              </a:pathLst>
            </a:custGeom>
            <a:blipFill>
              <a:blip r:embed="rId5"/>
              <a:stretch>
                <a:fillRect l="0" t="-625" r="0" b="-62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409845" y="7130810"/>
            <a:ext cx="1351319" cy="1351319"/>
            <a:chOff x="0" y="0"/>
            <a:chExt cx="2362200" cy="2362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622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2362200">
                  <a:moveTo>
                    <a:pt x="1181100" y="0"/>
                  </a:moveTo>
                  <a:cubicBezTo>
                    <a:pt x="528797" y="0"/>
                    <a:pt x="0" y="528797"/>
                    <a:pt x="0" y="1181100"/>
                  </a:cubicBezTo>
                  <a:cubicBezTo>
                    <a:pt x="0" y="1833404"/>
                    <a:pt x="528797" y="2362200"/>
                    <a:pt x="1181100" y="2362200"/>
                  </a:cubicBezTo>
                  <a:cubicBezTo>
                    <a:pt x="1833404" y="2362200"/>
                    <a:pt x="2362200" y="1833404"/>
                    <a:pt x="2362200" y="1181100"/>
                  </a:cubicBezTo>
                  <a:cubicBezTo>
                    <a:pt x="2362200" y="528797"/>
                    <a:pt x="1833404" y="0"/>
                    <a:pt x="1181100" y="0"/>
                  </a:cubicBezTo>
                  <a:lnTo>
                    <a:pt x="1181100" y="0"/>
                  </a:lnTo>
                  <a:close/>
                </a:path>
              </a:pathLst>
            </a:custGeom>
            <a:blipFill>
              <a:blip r:embed="rId6"/>
              <a:stretch>
                <a:fillRect l="0" t="-1094" r="0" b="-109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416116" y="5875750"/>
            <a:ext cx="1351319" cy="1351319"/>
            <a:chOff x="0" y="0"/>
            <a:chExt cx="2362200" cy="2362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622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2362200">
                  <a:moveTo>
                    <a:pt x="1181100" y="0"/>
                  </a:moveTo>
                  <a:cubicBezTo>
                    <a:pt x="528797" y="0"/>
                    <a:pt x="0" y="528797"/>
                    <a:pt x="0" y="1181100"/>
                  </a:cubicBezTo>
                  <a:cubicBezTo>
                    <a:pt x="0" y="1833404"/>
                    <a:pt x="528797" y="2362200"/>
                    <a:pt x="1181100" y="2362200"/>
                  </a:cubicBezTo>
                  <a:cubicBezTo>
                    <a:pt x="1833404" y="2362200"/>
                    <a:pt x="2362200" y="1833404"/>
                    <a:pt x="2362200" y="1181100"/>
                  </a:cubicBezTo>
                  <a:cubicBezTo>
                    <a:pt x="2362200" y="528797"/>
                    <a:pt x="1833404" y="0"/>
                    <a:pt x="1181100" y="0"/>
                  </a:cubicBezTo>
                  <a:lnTo>
                    <a:pt x="1181100" y="0"/>
                  </a:lnTo>
                  <a:close/>
                </a:path>
              </a:pathLst>
            </a:custGeom>
            <a:blipFill>
              <a:blip r:embed="rId7"/>
              <a:stretch>
                <a:fillRect l="0" t="-1515" r="0" b="-151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409845" y="4620689"/>
            <a:ext cx="1351319" cy="1351319"/>
            <a:chOff x="0" y="0"/>
            <a:chExt cx="2362200" cy="2362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622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2362200">
                  <a:moveTo>
                    <a:pt x="1181100" y="0"/>
                  </a:moveTo>
                  <a:cubicBezTo>
                    <a:pt x="528797" y="0"/>
                    <a:pt x="0" y="528797"/>
                    <a:pt x="0" y="1181100"/>
                  </a:cubicBezTo>
                  <a:cubicBezTo>
                    <a:pt x="0" y="1833404"/>
                    <a:pt x="528797" y="2362200"/>
                    <a:pt x="1181100" y="2362200"/>
                  </a:cubicBezTo>
                  <a:cubicBezTo>
                    <a:pt x="1833404" y="2362200"/>
                    <a:pt x="2362200" y="1833404"/>
                    <a:pt x="2362200" y="1181100"/>
                  </a:cubicBezTo>
                  <a:cubicBezTo>
                    <a:pt x="2362200" y="528797"/>
                    <a:pt x="1833404" y="0"/>
                    <a:pt x="1181100" y="0"/>
                  </a:cubicBezTo>
                  <a:lnTo>
                    <a:pt x="1181100" y="0"/>
                  </a:lnTo>
                  <a:close/>
                </a:path>
              </a:pathLst>
            </a:custGeom>
            <a:blipFill>
              <a:blip r:embed="rId8"/>
              <a:stretch>
                <a:fillRect l="0" t="-740" r="0" b="-7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416116" y="3427479"/>
            <a:ext cx="1351319" cy="1351319"/>
            <a:chOff x="0" y="0"/>
            <a:chExt cx="2362200" cy="2362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622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2362200">
                  <a:moveTo>
                    <a:pt x="1181100" y="0"/>
                  </a:moveTo>
                  <a:cubicBezTo>
                    <a:pt x="528797" y="0"/>
                    <a:pt x="0" y="528797"/>
                    <a:pt x="0" y="1181100"/>
                  </a:cubicBezTo>
                  <a:cubicBezTo>
                    <a:pt x="0" y="1833404"/>
                    <a:pt x="528797" y="2362200"/>
                    <a:pt x="1181100" y="2362200"/>
                  </a:cubicBezTo>
                  <a:cubicBezTo>
                    <a:pt x="1833404" y="2362200"/>
                    <a:pt x="2362200" y="1833404"/>
                    <a:pt x="2362200" y="1181100"/>
                  </a:cubicBezTo>
                  <a:cubicBezTo>
                    <a:pt x="2362200" y="528797"/>
                    <a:pt x="1833404" y="0"/>
                    <a:pt x="1181100" y="0"/>
                  </a:cubicBezTo>
                  <a:lnTo>
                    <a:pt x="1181100" y="0"/>
                  </a:lnTo>
                  <a:close/>
                </a:path>
              </a:pathLst>
            </a:custGeom>
            <a:blipFill>
              <a:blip r:embed="rId9"/>
              <a:stretch>
                <a:fillRect l="0" t="-2857" r="0" b="-285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409845" y="2339140"/>
            <a:ext cx="1351319" cy="1351319"/>
            <a:chOff x="0" y="0"/>
            <a:chExt cx="2362200" cy="2362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622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2362200">
                  <a:moveTo>
                    <a:pt x="1181100" y="0"/>
                  </a:moveTo>
                  <a:cubicBezTo>
                    <a:pt x="528797" y="0"/>
                    <a:pt x="0" y="528797"/>
                    <a:pt x="0" y="1181100"/>
                  </a:cubicBezTo>
                  <a:cubicBezTo>
                    <a:pt x="0" y="1833404"/>
                    <a:pt x="528797" y="2362200"/>
                    <a:pt x="1181100" y="2362200"/>
                  </a:cubicBezTo>
                  <a:cubicBezTo>
                    <a:pt x="1833404" y="2362200"/>
                    <a:pt x="2362200" y="1833404"/>
                    <a:pt x="2362200" y="1181100"/>
                  </a:cubicBezTo>
                  <a:cubicBezTo>
                    <a:pt x="2362200" y="528797"/>
                    <a:pt x="1833404" y="0"/>
                    <a:pt x="1181100" y="0"/>
                  </a:cubicBezTo>
                  <a:lnTo>
                    <a:pt x="1181100" y="0"/>
                  </a:lnTo>
                  <a:close/>
                </a:path>
              </a:pathLst>
            </a:custGeom>
            <a:blipFill>
              <a:blip r:embed="rId10"/>
              <a:stretch>
                <a:fillRect l="0" t="-3571" r="0" b="-357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767435" y="1913840"/>
            <a:ext cx="2163533" cy="577901"/>
            <a:chOff x="0" y="0"/>
            <a:chExt cx="569819" cy="1522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9819" cy="152204"/>
            </a:xfrm>
            <a:custGeom>
              <a:avLst/>
              <a:gdLst/>
              <a:ahLst/>
              <a:cxnLst/>
              <a:rect r="r" b="b" t="t" l="l"/>
              <a:pathLst>
                <a:path h="152204" w="569819">
                  <a:moveTo>
                    <a:pt x="0" y="0"/>
                  </a:moveTo>
                  <a:lnTo>
                    <a:pt x="569819" y="0"/>
                  </a:lnTo>
                  <a:lnTo>
                    <a:pt x="569819" y="152204"/>
                  </a:lnTo>
                  <a:lnTo>
                    <a:pt x="0" y="152204"/>
                  </a:lnTo>
                  <a:close/>
                </a:path>
              </a:pathLst>
            </a:custGeom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69819" cy="199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 spc="227">
                  <a:solidFill>
                    <a:srgbClr val="FFFFFF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Agner Lana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44971" y="2723969"/>
            <a:ext cx="2864873" cy="577901"/>
            <a:chOff x="0" y="0"/>
            <a:chExt cx="754534" cy="1522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4534" cy="152204"/>
            </a:xfrm>
            <a:custGeom>
              <a:avLst/>
              <a:gdLst/>
              <a:ahLst/>
              <a:cxnLst/>
              <a:rect r="r" b="b" t="t" l="l"/>
              <a:pathLst>
                <a:path h="152204" w="754534">
                  <a:moveTo>
                    <a:pt x="0" y="0"/>
                  </a:moveTo>
                  <a:lnTo>
                    <a:pt x="754534" y="0"/>
                  </a:lnTo>
                  <a:lnTo>
                    <a:pt x="754534" y="152204"/>
                  </a:lnTo>
                  <a:lnTo>
                    <a:pt x="0" y="152204"/>
                  </a:lnTo>
                  <a:close/>
                </a:path>
              </a:pathLst>
            </a:custGeom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54534" cy="199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 spc="227">
                  <a:solidFill>
                    <a:srgbClr val="FFFFFF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Anderson Silva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67435" y="3814188"/>
            <a:ext cx="2710014" cy="577901"/>
            <a:chOff x="0" y="0"/>
            <a:chExt cx="713749" cy="1522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3749" cy="152204"/>
            </a:xfrm>
            <a:custGeom>
              <a:avLst/>
              <a:gdLst/>
              <a:ahLst/>
              <a:cxnLst/>
              <a:rect r="r" b="b" t="t" l="l"/>
              <a:pathLst>
                <a:path h="152204" w="713749">
                  <a:moveTo>
                    <a:pt x="0" y="0"/>
                  </a:moveTo>
                  <a:lnTo>
                    <a:pt x="713749" y="0"/>
                  </a:lnTo>
                  <a:lnTo>
                    <a:pt x="713749" y="152204"/>
                  </a:lnTo>
                  <a:lnTo>
                    <a:pt x="0" y="152204"/>
                  </a:lnTo>
                  <a:close/>
                </a:path>
              </a:pathLst>
            </a:custGeom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13749" cy="199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 spc="227">
                  <a:solidFill>
                    <a:srgbClr val="FFFFFF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Kayhene Silva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65731" y="5007398"/>
            <a:ext cx="3144114" cy="577901"/>
            <a:chOff x="0" y="0"/>
            <a:chExt cx="828079" cy="1522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8079" cy="152204"/>
            </a:xfrm>
            <a:custGeom>
              <a:avLst/>
              <a:gdLst/>
              <a:ahLst/>
              <a:cxnLst/>
              <a:rect r="r" b="b" t="t" l="l"/>
              <a:pathLst>
                <a:path h="152204" w="828079">
                  <a:moveTo>
                    <a:pt x="0" y="0"/>
                  </a:moveTo>
                  <a:lnTo>
                    <a:pt x="828079" y="0"/>
                  </a:lnTo>
                  <a:lnTo>
                    <a:pt x="828079" y="152204"/>
                  </a:lnTo>
                  <a:lnTo>
                    <a:pt x="0" y="152204"/>
                  </a:lnTo>
                  <a:close/>
                </a:path>
              </a:pathLst>
            </a:custGeom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28079" cy="199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 spc="227">
                  <a:solidFill>
                    <a:srgbClr val="FFFFFF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Matheus Alencar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67435" y="6262459"/>
            <a:ext cx="2878641" cy="577901"/>
            <a:chOff x="0" y="0"/>
            <a:chExt cx="758161" cy="1522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8161" cy="152204"/>
            </a:xfrm>
            <a:custGeom>
              <a:avLst/>
              <a:gdLst/>
              <a:ahLst/>
              <a:cxnLst/>
              <a:rect r="r" b="b" t="t" l="l"/>
              <a:pathLst>
                <a:path h="152204" w="758161">
                  <a:moveTo>
                    <a:pt x="0" y="0"/>
                  </a:moveTo>
                  <a:lnTo>
                    <a:pt x="758161" y="0"/>
                  </a:lnTo>
                  <a:lnTo>
                    <a:pt x="758161" y="152204"/>
                  </a:lnTo>
                  <a:lnTo>
                    <a:pt x="0" y="152204"/>
                  </a:lnTo>
                  <a:close/>
                </a:path>
              </a:pathLst>
            </a:custGeom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58161" cy="199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 spc="227">
                  <a:solidFill>
                    <a:srgbClr val="FFFFFF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Ricardo Morais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900734" y="7517519"/>
            <a:ext cx="2509110" cy="577901"/>
            <a:chOff x="0" y="0"/>
            <a:chExt cx="660836" cy="1522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0836" cy="152204"/>
            </a:xfrm>
            <a:custGeom>
              <a:avLst/>
              <a:gdLst/>
              <a:ahLst/>
              <a:cxnLst/>
              <a:rect r="r" b="b" t="t" l="l"/>
              <a:pathLst>
                <a:path h="152204" w="660836">
                  <a:moveTo>
                    <a:pt x="0" y="0"/>
                  </a:moveTo>
                  <a:lnTo>
                    <a:pt x="660836" y="0"/>
                  </a:lnTo>
                  <a:lnTo>
                    <a:pt x="660836" y="152204"/>
                  </a:lnTo>
                  <a:lnTo>
                    <a:pt x="0" y="152204"/>
                  </a:lnTo>
                  <a:close/>
                </a:path>
              </a:pathLst>
            </a:custGeom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60836" cy="199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 spc="227">
                  <a:solidFill>
                    <a:srgbClr val="FFFFFF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Tiago Nocce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99" r="0" b="-8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96438" y="-554831"/>
            <a:ext cx="9229611" cy="11396662"/>
            <a:chOff x="0" y="0"/>
            <a:chExt cx="2430844" cy="30015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0844" cy="3001590"/>
            </a:xfrm>
            <a:custGeom>
              <a:avLst/>
              <a:gdLst/>
              <a:ahLst/>
              <a:cxnLst/>
              <a:rect r="r" b="b" t="t" l="l"/>
              <a:pathLst>
                <a:path h="3001590" w="2430844">
                  <a:moveTo>
                    <a:pt x="0" y="0"/>
                  </a:moveTo>
                  <a:lnTo>
                    <a:pt x="2430844" y="0"/>
                  </a:lnTo>
                  <a:lnTo>
                    <a:pt x="2430844" y="3001590"/>
                  </a:lnTo>
                  <a:lnTo>
                    <a:pt x="0" y="300159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0844" cy="30396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156568"/>
            <a:ext cx="7817658" cy="168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20"/>
              </a:lnSpc>
            </a:pPr>
            <a:r>
              <a:rPr lang="en-US" b="true" sz="11000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AgendaCar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513130" y="1170365"/>
            <a:ext cx="320094" cy="370051"/>
          </a:xfrm>
          <a:custGeom>
            <a:avLst/>
            <a:gdLst/>
            <a:ahLst/>
            <a:cxnLst/>
            <a:rect r="r" b="b" t="t" l="l"/>
            <a:pathLst>
              <a:path h="370051" w="320094">
                <a:moveTo>
                  <a:pt x="0" y="0"/>
                </a:moveTo>
                <a:lnTo>
                  <a:pt x="320094" y="0"/>
                </a:lnTo>
                <a:lnTo>
                  <a:pt x="320094" y="370051"/>
                </a:lnTo>
                <a:lnTo>
                  <a:pt x="0" y="370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13130" y="2117393"/>
            <a:ext cx="320094" cy="370051"/>
          </a:xfrm>
          <a:custGeom>
            <a:avLst/>
            <a:gdLst/>
            <a:ahLst/>
            <a:cxnLst/>
            <a:rect r="r" b="b" t="t" l="l"/>
            <a:pathLst>
              <a:path h="370051" w="320094">
                <a:moveTo>
                  <a:pt x="0" y="0"/>
                </a:moveTo>
                <a:lnTo>
                  <a:pt x="320094" y="0"/>
                </a:lnTo>
                <a:lnTo>
                  <a:pt x="320094" y="370050"/>
                </a:lnTo>
                <a:lnTo>
                  <a:pt x="0" y="37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368409" y="1144571"/>
            <a:ext cx="589089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217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Sobre nós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68409" y="2091598"/>
            <a:ext cx="589089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217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Problemas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68409" y="3038625"/>
            <a:ext cx="589089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217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Soluçao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68409" y="3985653"/>
            <a:ext cx="589089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217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Requisitos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68409" y="4932680"/>
            <a:ext cx="589089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217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Diagrama de Casos de Uso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68409" y="5879707"/>
            <a:ext cx="670943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217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Testes e Avaliação Heurística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68409" y="6826735"/>
            <a:ext cx="589089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217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Vídeo demonstrativo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68409" y="7773762"/>
            <a:ext cx="5890891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217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Conclusões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513130" y="3064420"/>
            <a:ext cx="320094" cy="370051"/>
          </a:xfrm>
          <a:custGeom>
            <a:avLst/>
            <a:gdLst/>
            <a:ahLst/>
            <a:cxnLst/>
            <a:rect r="r" b="b" t="t" l="l"/>
            <a:pathLst>
              <a:path h="370051" w="320094">
                <a:moveTo>
                  <a:pt x="0" y="0"/>
                </a:moveTo>
                <a:lnTo>
                  <a:pt x="320094" y="0"/>
                </a:lnTo>
                <a:lnTo>
                  <a:pt x="320094" y="370051"/>
                </a:lnTo>
                <a:lnTo>
                  <a:pt x="0" y="370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513130" y="4011447"/>
            <a:ext cx="320094" cy="370051"/>
          </a:xfrm>
          <a:custGeom>
            <a:avLst/>
            <a:gdLst/>
            <a:ahLst/>
            <a:cxnLst/>
            <a:rect r="r" b="b" t="t" l="l"/>
            <a:pathLst>
              <a:path h="370051" w="320094">
                <a:moveTo>
                  <a:pt x="0" y="0"/>
                </a:moveTo>
                <a:lnTo>
                  <a:pt x="320094" y="0"/>
                </a:lnTo>
                <a:lnTo>
                  <a:pt x="320094" y="370051"/>
                </a:lnTo>
                <a:lnTo>
                  <a:pt x="0" y="370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513130" y="4958475"/>
            <a:ext cx="320094" cy="370051"/>
          </a:xfrm>
          <a:custGeom>
            <a:avLst/>
            <a:gdLst/>
            <a:ahLst/>
            <a:cxnLst/>
            <a:rect r="r" b="b" t="t" l="l"/>
            <a:pathLst>
              <a:path h="370051" w="320094">
                <a:moveTo>
                  <a:pt x="0" y="0"/>
                </a:moveTo>
                <a:lnTo>
                  <a:pt x="320094" y="0"/>
                </a:lnTo>
                <a:lnTo>
                  <a:pt x="320094" y="370050"/>
                </a:lnTo>
                <a:lnTo>
                  <a:pt x="0" y="37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513130" y="5905502"/>
            <a:ext cx="320094" cy="370051"/>
          </a:xfrm>
          <a:custGeom>
            <a:avLst/>
            <a:gdLst/>
            <a:ahLst/>
            <a:cxnLst/>
            <a:rect r="r" b="b" t="t" l="l"/>
            <a:pathLst>
              <a:path h="370051" w="320094">
                <a:moveTo>
                  <a:pt x="0" y="0"/>
                </a:moveTo>
                <a:lnTo>
                  <a:pt x="320094" y="0"/>
                </a:lnTo>
                <a:lnTo>
                  <a:pt x="320094" y="370051"/>
                </a:lnTo>
                <a:lnTo>
                  <a:pt x="0" y="370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513130" y="6852529"/>
            <a:ext cx="320094" cy="370051"/>
          </a:xfrm>
          <a:custGeom>
            <a:avLst/>
            <a:gdLst/>
            <a:ahLst/>
            <a:cxnLst/>
            <a:rect r="r" b="b" t="t" l="l"/>
            <a:pathLst>
              <a:path h="370051" w="320094">
                <a:moveTo>
                  <a:pt x="0" y="0"/>
                </a:moveTo>
                <a:lnTo>
                  <a:pt x="320094" y="0"/>
                </a:lnTo>
                <a:lnTo>
                  <a:pt x="320094" y="370051"/>
                </a:lnTo>
                <a:lnTo>
                  <a:pt x="0" y="3700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513130" y="7799557"/>
            <a:ext cx="320094" cy="370051"/>
          </a:xfrm>
          <a:custGeom>
            <a:avLst/>
            <a:gdLst/>
            <a:ahLst/>
            <a:cxnLst/>
            <a:rect r="r" b="b" t="t" l="l"/>
            <a:pathLst>
              <a:path h="370051" w="320094">
                <a:moveTo>
                  <a:pt x="0" y="0"/>
                </a:moveTo>
                <a:lnTo>
                  <a:pt x="320094" y="0"/>
                </a:lnTo>
                <a:lnTo>
                  <a:pt x="320094" y="370050"/>
                </a:lnTo>
                <a:lnTo>
                  <a:pt x="0" y="37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3225514" y="6313167"/>
            <a:ext cx="11663389" cy="5846274"/>
          </a:xfrm>
          <a:custGeom>
            <a:avLst/>
            <a:gdLst/>
            <a:ahLst/>
            <a:cxnLst/>
            <a:rect r="r" b="b" t="t" l="l"/>
            <a:pathLst>
              <a:path h="5846274" w="11663389">
                <a:moveTo>
                  <a:pt x="0" y="0"/>
                </a:moveTo>
                <a:lnTo>
                  <a:pt x="11663389" y="0"/>
                </a:lnTo>
                <a:lnTo>
                  <a:pt x="11663389" y="5846274"/>
                </a:lnTo>
                <a:lnTo>
                  <a:pt x="0" y="58462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-3225514" y="4904105"/>
            <a:ext cx="9815488" cy="5913831"/>
          </a:xfrm>
          <a:custGeom>
            <a:avLst/>
            <a:gdLst/>
            <a:ahLst/>
            <a:cxnLst/>
            <a:rect r="r" b="b" t="t" l="l"/>
            <a:pathLst>
              <a:path h="5913831" w="9815488">
                <a:moveTo>
                  <a:pt x="9815487" y="0"/>
                </a:moveTo>
                <a:lnTo>
                  <a:pt x="0" y="0"/>
                </a:lnTo>
                <a:lnTo>
                  <a:pt x="0" y="5913831"/>
                </a:lnTo>
                <a:lnTo>
                  <a:pt x="9815487" y="5913831"/>
                </a:lnTo>
                <a:lnTo>
                  <a:pt x="9815487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99" r="0" b="-8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1326" y="4033354"/>
            <a:ext cx="16748730" cy="4193398"/>
            <a:chOff x="0" y="0"/>
            <a:chExt cx="4411188" cy="11044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1188" cy="1104434"/>
            </a:xfrm>
            <a:custGeom>
              <a:avLst/>
              <a:gdLst/>
              <a:ahLst/>
              <a:cxnLst/>
              <a:rect r="r" b="b" t="t" l="l"/>
              <a:pathLst>
                <a:path h="1104434" w="4411188">
                  <a:moveTo>
                    <a:pt x="6934" y="0"/>
                  </a:moveTo>
                  <a:lnTo>
                    <a:pt x="4404254" y="0"/>
                  </a:lnTo>
                  <a:cubicBezTo>
                    <a:pt x="4408084" y="0"/>
                    <a:pt x="4411188" y="3104"/>
                    <a:pt x="4411188" y="6934"/>
                  </a:cubicBezTo>
                  <a:lnTo>
                    <a:pt x="4411188" y="1097500"/>
                  </a:lnTo>
                  <a:cubicBezTo>
                    <a:pt x="4411188" y="1099339"/>
                    <a:pt x="4410458" y="1101103"/>
                    <a:pt x="4409157" y="1102403"/>
                  </a:cubicBezTo>
                  <a:cubicBezTo>
                    <a:pt x="4407857" y="1103704"/>
                    <a:pt x="4406093" y="1104434"/>
                    <a:pt x="4404254" y="1104434"/>
                  </a:cubicBezTo>
                  <a:lnTo>
                    <a:pt x="6934" y="1104434"/>
                  </a:lnTo>
                  <a:cubicBezTo>
                    <a:pt x="5095" y="1104434"/>
                    <a:pt x="3331" y="1103704"/>
                    <a:pt x="2031" y="1102403"/>
                  </a:cubicBezTo>
                  <a:cubicBezTo>
                    <a:pt x="731" y="1101103"/>
                    <a:pt x="0" y="1099339"/>
                    <a:pt x="0" y="1097500"/>
                  </a:cubicBezTo>
                  <a:lnTo>
                    <a:pt x="0" y="6934"/>
                  </a:lnTo>
                  <a:cubicBezTo>
                    <a:pt x="0" y="5095"/>
                    <a:pt x="731" y="3331"/>
                    <a:pt x="2031" y="2031"/>
                  </a:cubicBezTo>
                  <a:cubicBezTo>
                    <a:pt x="3331" y="731"/>
                    <a:pt x="5095" y="0"/>
                    <a:pt x="6934" y="0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11188" cy="1142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80106" y="7393453"/>
            <a:ext cx="3857768" cy="689576"/>
          </a:xfrm>
          <a:custGeom>
            <a:avLst/>
            <a:gdLst/>
            <a:ahLst/>
            <a:cxnLst/>
            <a:rect r="r" b="b" t="t" l="l"/>
            <a:pathLst>
              <a:path h="689576" w="3857768">
                <a:moveTo>
                  <a:pt x="0" y="0"/>
                </a:moveTo>
                <a:lnTo>
                  <a:pt x="3857767" y="0"/>
                </a:lnTo>
                <a:lnTo>
                  <a:pt x="3857767" y="689576"/>
                </a:lnTo>
                <a:lnTo>
                  <a:pt x="0" y="689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04003" y="7393453"/>
            <a:ext cx="3857768" cy="689576"/>
          </a:xfrm>
          <a:custGeom>
            <a:avLst/>
            <a:gdLst/>
            <a:ahLst/>
            <a:cxnLst/>
            <a:rect r="r" b="b" t="t" l="l"/>
            <a:pathLst>
              <a:path h="689576" w="3857768">
                <a:moveTo>
                  <a:pt x="0" y="0"/>
                </a:moveTo>
                <a:lnTo>
                  <a:pt x="3857767" y="0"/>
                </a:lnTo>
                <a:lnTo>
                  <a:pt x="3857767" y="689576"/>
                </a:lnTo>
                <a:lnTo>
                  <a:pt x="0" y="689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7900" y="7393453"/>
            <a:ext cx="3857768" cy="689576"/>
          </a:xfrm>
          <a:custGeom>
            <a:avLst/>
            <a:gdLst/>
            <a:ahLst/>
            <a:cxnLst/>
            <a:rect r="r" b="b" t="t" l="l"/>
            <a:pathLst>
              <a:path h="689576" w="3857768">
                <a:moveTo>
                  <a:pt x="0" y="0"/>
                </a:moveTo>
                <a:lnTo>
                  <a:pt x="3857767" y="0"/>
                </a:lnTo>
                <a:lnTo>
                  <a:pt x="3857767" y="689576"/>
                </a:lnTo>
                <a:lnTo>
                  <a:pt x="0" y="689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53509" y="7393453"/>
            <a:ext cx="3857768" cy="689576"/>
          </a:xfrm>
          <a:custGeom>
            <a:avLst/>
            <a:gdLst/>
            <a:ahLst/>
            <a:cxnLst/>
            <a:rect r="r" b="b" t="t" l="l"/>
            <a:pathLst>
              <a:path h="689576" w="3857768">
                <a:moveTo>
                  <a:pt x="0" y="0"/>
                </a:moveTo>
                <a:lnTo>
                  <a:pt x="3857767" y="0"/>
                </a:lnTo>
                <a:lnTo>
                  <a:pt x="3857767" y="689576"/>
                </a:lnTo>
                <a:lnTo>
                  <a:pt x="0" y="6895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80106" y="4440139"/>
            <a:ext cx="3857197" cy="3379828"/>
            <a:chOff x="0" y="0"/>
            <a:chExt cx="9276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7600" cy="812800"/>
            </a:xfrm>
            <a:custGeom>
              <a:avLst/>
              <a:gdLst/>
              <a:ahLst/>
              <a:cxnLst/>
              <a:rect r="r" b="b" t="t" l="l"/>
              <a:pathLst>
                <a:path h="812800" w="927600">
                  <a:moveTo>
                    <a:pt x="30107" y="0"/>
                  </a:moveTo>
                  <a:lnTo>
                    <a:pt x="897493" y="0"/>
                  </a:lnTo>
                  <a:cubicBezTo>
                    <a:pt x="914121" y="0"/>
                    <a:pt x="927600" y="13479"/>
                    <a:pt x="927600" y="30107"/>
                  </a:cubicBezTo>
                  <a:lnTo>
                    <a:pt x="927600" y="782693"/>
                  </a:lnTo>
                  <a:cubicBezTo>
                    <a:pt x="927600" y="790678"/>
                    <a:pt x="924428" y="798336"/>
                    <a:pt x="918782" y="803982"/>
                  </a:cubicBezTo>
                  <a:cubicBezTo>
                    <a:pt x="913136" y="809628"/>
                    <a:pt x="905478" y="812800"/>
                    <a:pt x="897493" y="812800"/>
                  </a:cubicBezTo>
                  <a:lnTo>
                    <a:pt x="30107" y="812800"/>
                  </a:lnTo>
                  <a:cubicBezTo>
                    <a:pt x="22122" y="812800"/>
                    <a:pt x="14464" y="809628"/>
                    <a:pt x="8818" y="803982"/>
                  </a:cubicBezTo>
                  <a:cubicBezTo>
                    <a:pt x="3172" y="798336"/>
                    <a:pt x="0" y="790678"/>
                    <a:pt x="0" y="782693"/>
                  </a:cubicBezTo>
                  <a:lnTo>
                    <a:pt x="0" y="30107"/>
                  </a:lnTo>
                  <a:cubicBezTo>
                    <a:pt x="0" y="22122"/>
                    <a:pt x="3172" y="14464"/>
                    <a:pt x="8818" y="8818"/>
                  </a:cubicBezTo>
                  <a:cubicBezTo>
                    <a:pt x="14464" y="3172"/>
                    <a:pt x="22122" y="0"/>
                    <a:pt x="30107" y="0"/>
                  </a:cubicBezTo>
                  <a:close/>
                </a:path>
              </a:pathLst>
            </a:custGeom>
            <a:blipFill>
              <a:blip r:embed="rId5"/>
              <a:stretch>
                <a:fillRect l="-15635" t="0" r="-15635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104573" y="4440139"/>
            <a:ext cx="3857197" cy="3379828"/>
            <a:chOff x="0" y="0"/>
            <a:chExt cx="9276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7600" cy="812800"/>
            </a:xfrm>
            <a:custGeom>
              <a:avLst/>
              <a:gdLst/>
              <a:ahLst/>
              <a:cxnLst/>
              <a:rect r="r" b="b" t="t" l="l"/>
              <a:pathLst>
                <a:path h="812800" w="927600">
                  <a:moveTo>
                    <a:pt x="30107" y="0"/>
                  </a:moveTo>
                  <a:lnTo>
                    <a:pt x="897493" y="0"/>
                  </a:lnTo>
                  <a:cubicBezTo>
                    <a:pt x="914121" y="0"/>
                    <a:pt x="927600" y="13479"/>
                    <a:pt x="927600" y="30107"/>
                  </a:cubicBezTo>
                  <a:lnTo>
                    <a:pt x="927600" y="782693"/>
                  </a:lnTo>
                  <a:cubicBezTo>
                    <a:pt x="927600" y="790678"/>
                    <a:pt x="924428" y="798336"/>
                    <a:pt x="918782" y="803982"/>
                  </a:cubicBezTo>
                  <a:cubicBezTo>
                    <a:pt x="913136" y="809628"/>
                    <a:pt x="905478" y="812800"/>
                    <a:pt x="897493" y="812800"/>
                  </a:cubicBezTo>
                  <a:lnTo>
                    <a:pt x="30107" y="812800"/>
                  </a:lnTo>
                  <a:cubicBezTo>
                    <a:pt x="22122" y="812800"/>
                    <a:pt x="14464" y="809628"/>
                    <a:pt x="8818" y="803982"/>
                  </a:cubicBezTo>
                  <a:cubicBezTo>
                    <a:pt x="3172" y="798336"/>
                    <a:pt x="0" y="790678"/>
                    <a:pt x="0" y="782693"/>
                  </a:cubicBezTo>
                  <a:lnTo>
                    <a:pt x="0" y="30107"/>
                  </a:lnTo>
                  <a:cubicBezTo>
                    <a:pt x="0" y="22122"/>
                    <a:pt x="3172" y="14464"/>
                    <a:pt x="8818" y="8818"/>
                  </a:cubicBezTo>
                  <a:cubicBezTo>
                    <a:pt x="14464" y="3172"/>
                    <a:pt x="22122" y="0"/>
                    <a:pt x="30107" y="0"/>
                  </a:cubicBezTo>
                  <a:close/>
                </a:path>
              </a:pathLst>
            </a:custGeom>
            <a:blipFill>
              <a:blip r:embed="rId6"/>
              <a:stretch>
                <a:fillRect l="-15759" t="0" r="-15759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229041" y="4440139"/>
            <a:ext cx="3857197" cy="3379828"/>
            <a:chOff x="0" y="0"/>
            <a:chExt cx="9276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7600" cy="812800"/>
            </a:xfrm>
            <a:custGeom>
              <a:avLst/>
              <a:gdLst/>
              <a:ahLst/>
              <a:cxnLst/>
              <a:rect r="r" b="b" t="t" l="l"/>
              <a:pathLst>
                <a:path h="812800" w="927600">
                  <a:moveTo>
                    <a:pt x="30107" y="0"/>
                  </a:moveTo>
                  <a:lnTo>
                    <a:pt x="897493" y="0"/>
                  </a:lnTo>
                  <a:cubicBezTo>
                    <a:pt x="914121" y="0"/>
                    <a:pt x="927600" y="13479"/>
                    <a:pt x="927600" y="30107"/>
                  </a:cubicBezTo>
                  <a:lnTo>
                    <a:pt x="927600" y="782693"/>
                  </a:lnTo>
                  <a:cubicBezTo>
                    <a:pt x="927600" y="790678"/>
                    <a:pt x="924428" y="798336"/>
                    <a:pt x="918782" y="803982"/>
                  </a:cubicBezTo>
                  <a:cubicBezTo>
                    <a:pt x="913136" y="809628"/>
                    <a:pt x="905478" y="812800"/>
                    <a:pt x="897493" y="812800"/>
                  </a:cubicBezTo>
                  <a:lnTo>
                    <a:pt x="30107" y="812800"/>
                  </a:lnTo>
                  <a:cubicBezTo>
                    <a:pt x="22122" y="812800"/>
                    <a:pt x="14464" y="809628"/>
                    <a:pt x="8818" y="803982"/>
                  </a:cubicBezTo>
                  <a:cubicBezTo>
                    <a:pt x="3172" y="798336"/>
                    <a:pt x="0" y="790678"/>
                    <a:pt x="0" y="782693"/>
                  </a:cubicBezTo>
                  <a:lnTo>
                    <a:pt x="0" y="30107"/>
                  </a:lnTo>
                  <a:cubicBezTo>
                    <a:pt x="0" y="22122"/>
                    <a:pt x="3172" y="14464"/>
                    <a:pt x="8818" y="8818"/>
                  </a:cubicBezTo>
                  <a:cubicBezTo>
                    <a:pt x="14464" y="3172"/>
                    <a:pt x="22122" y="0"/>
                    <a:pt x="30107" y="0"/>
                  </a:cubicBezTo>
                  <a:close/>
                </a:path>
              </a:pathLst>
            </a:custGeom>
            <a:blipFill>
              <a:blip r:embed="rId7"/>
              <a:stretch>
                <a:fillRect l="-15759" t="0" r="-15759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353509" y="4440139"/>
            <a:ext cx="3857197" cy="3379828"/>
            <a:chOff x="0" y="0"/>
            <a:chExt cx="9276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7600" cy="812800"/>
            </a:xfrm>
            <a:custGeom>
              <a:avLst/>
              <a:gdLst/>
              <a:ahLst/>
              <a:cxnLst/>
              <a:rect r="r" b="b" t="t" l="l"/>
              <a:pathLst>
                <a:path h="812800" w="927600">
                  <a:moveTo>
                    <a:pt x="30107" y="0"/>
                  </a:moveTo>
                  <a:lnTo>
                    <a:pt x="897493" y="0"/>
                  </a:lnTo>
                  <a:cubicBezTo>
                    <a:pt x="914121" y="0"/>
                    <a:pt x="927600" y="13479"/>
                    <a:pt x="927600" y="30107"/>
                  </a:cubicBezTo>
                  <a:lnTo>
                    <a:pt x="927600" y="782693"/>
                  </a:lnTo>
                  <a:cubicBezTo>
                    <a:pt x="927600" y="790678"/>
                    <a:pt x="924428" y="798336"/>
                    <a:pt x="918782" y="803982"/>
                  </a:cubicBezTo>
                  <a:cubicBezTo>
                    <a:pt x="913136" y="809628"/>
                    <a:pt x="905478" y="812800"/>
                    <a:pt x="897493" y="812800"/>
                  </a:cubicBezTo>
                  <a:lnTo>
                    <a:pt x="30107" y="812800"/>
                  </a:lnTo>
                  <a:cubicBezTo>
                    <a:pt x="22122" y="812800"/>
                    <a:pt x="14464" y="809628"/>
                    <a:pt x="8818" y="803982"/>
                  </a:cubicBezTo>
                  <a:cubicBezTo>
                    <a:pt x="3172" y="798336"/>
                    <a:pt x="0" y="790678"/>
                    <a:pt x="0" y="782693"/>
                  </a:cubicBezTo>
                  <a:lnTo>
                    <a:pt x="0" y="30107"/>
                  </a:lnTo>
                  <a:cubicBezTo>
                    <a:pt x="0" y="22122"/>
                    <a:pt x="3172" y="14464"/>
                    <a:pt x="8818" y="8818"/>
                  </a:cubicBezTo>
                  <a:cubicBezTo>
                    <a:pt x="14464" y="3172"/>
                    <a:pt x="22122" y="0"/>
                    <a:pt x="30107" y="0"/>
                  </a:cubicBezTo>
                  <a:close/>
                </a:path>
              </a:pathLst>
            </a:custGeom>
            <a:blipFill>
              <a:blip r:embed="rId8"/>
              <a:stretch>
                <a:fillRect l="-16131" t="0" r="-16131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929350" y="8952360"/>
            <a:ext cx="433268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90">
                <a:solidFill>
                  <a:srgbClr val="FFFFFF"/>
                </a:solidFill>
                <a:latin typeface="Helvetica Now"/>
                <a:ea typeface="Helvetica Now"/>
                <a:cs typeface="Helvetica Now"/>
                <a:sym typeface="Helvetica Now"/>
              </a:rPr>
              <a:t>@agendacar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1326" y="1952605"/>
            <a:ext cx="16748730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 spc="312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Conectamos quem precisa com quem sabe fazer - simples, rápido e sem complicação.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8" r="0" b="-1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85182" y="4604503"/>
            <a:ext cx="10174118" cy="1818624"/>
          </a:xfrm>
          <a:custGeom>
            <a:avLst/>
            <a:gdLst/>
            <a:ahLst/>
            <a:cxnLst/>
            <a:rect r="r" b="b" t="t" l="l"/>
            <a:pathLst>
              <a:path h="1818624" w="10174118">
                <a:moveTo>
                  <a:pt x="0" y="0"/>
                </a:moveTo>
                <a:lnTo>
                  <a:pt x="10174118" y="0"/>
                </a:lnTo>
                <a:lnTo>
                  <a:pt x="10174118" y="1818624"/>
                </a:lnTo>
                <a:lnTo>
                  <a:pt x="0" y="18186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85182" y="7508977"/>
            <a:ext cx="10174118" cy="1818624"/>
          </a:xfrm>
          <a:custGeom>
            <a:avLst/>
            <a:gdLst/>
            <a:ahLst/>
            <a:cxnLst/>
            <a:rect r="r" b="b" t="t" l="l"/>
            <a:pathLst>
              <a:path h="1818624" w="10174118">
                <a:moveTo>
                  <a:pt x="0" y="0"/>
                </a:moveTo>
                <a:lnTo>
                  <a:pt x="10174118" y="0"/>
                </a:lnTo>
                <a:lnTo>
                  <a:pt x="10174118" y="1818624"/>
                </a:lnTo>
                <a:lnTo>
                  <a:pt x="0" y="18186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085182" y="3661344"/>
            <a:ext cx="10724181" cy="6169028"/>
            <a:chOff x="0" y="0"/>
            <a:chExt cx="2824476" cy="1624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24476" cy="1624764"/>
            </a:xfrm>
            <a:custGeom>
              <a:avLst/>
              <a:gdLst/>
              <a:ahLst/>
              <a:cxnLst/>
              <a:rect r="r" b="b" t="t" l="l"/>
              <a:pathLst>
                <a:path h="1624764" w="2824476">
                  <a:moveTo>
                    <a:pt x="10829" y="0"/>
                  </a:moveTo>
                  <a:lnTo>
                    <a:pt x="2813647" y="0"/>
                  </a:lnTo>
                  <a:cubicBezTo>
                    <a:pt x="2819628" y="0"/>
                    <a:pt x="2824476" y="4848"/>
                    <a:pt x="2824476" y="10829"/>
                  </a:cubicBezTo>
                  <a:lnTo>
                    <a:pt x="2824476" y="1613936"/>
                  </a:lnTo>
                  <a:cubicBezTo>
                    <a:pt x="2824476" y="1616808"/>
                    <a:pt x="2823335" y="1619562"/>
                    <a:pt x="2821304" y="1621593"/>
                  </a:cubicBezTo>
                  <a:cubicBezTo>
                    <a:pt x="2819273" y="1623624"/>
                    <a:pt x="2816519" y="1624764"/>
                    <a:pt x="2813647" y="1624764"/>
                  </a:cubicBezTo>
                  <a:lnTo>
                    <a:pt x="10829" y="1624764"/>
                  </a:lnTo>
                  <a:cubicBezTo>
                    <a:pt x="7957" y="1624764"/>
                    <a:pt x="5202" y="1623624"/>
                    <a:pt x="3172" y="1621593"/>
                  </a:cubicBezTo>
                  <a:cubicBezTo>
                    <a:pt x="1141" y="1619562"/>
                    <a:pt x="0" y="1616808"/>
                    <a:pt x="0" y="1613936"/>
                  </a:cubicBezTo>
                  <a:lnTo>
                    <a:pt x="0" y="10829"/>
                  </a:lnTo>
                  <a:cubicBezTo>
                    <a:pt x="0" y="7957"/>
                    <a:pt x="1141" y="5202"/>
                    <a:pt x="3172" y="3172"/>
                  </a:cubicBezTo>
                  <a:cubicBezTo>
                    <a:pt x="5202" y="1141"/>
                    <a:pt x="7957" y="0"/>
                    <a:pt x="108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24476" cy="1662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225" y="1593403"/>
            <a:ext cx="2730603" cy="2262049"/>
            <a:chOff x="0" y="0"/>
            <a:chExt cx="812800" cy="6733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73329"/>
            </a:xfrm>
            <a:custGeom>
              <a:avLst/>
              <a:gdLst/>
              <a:ahLst/>
              <a:cxnLst/>
              <a:rect r="r" b="b" t="t" l="l"/>
              <a:pathLst>
                <a:path h="673329" w="812800">
                  <a:moveTo>
                    <a:pt x="65211" y="0"/>
                  </a:moveTo>
                  <a:lnTo>
                    <a:pt x="747589" y="0"/>
                  </a:lnTo>
                  <a:cubicBezTo>
                    <a:pt x="783604" y="0"/>
                    <a:pt x="812800" y="29196"/>
                    <a:pt x="812800" y="65211"/>
                  </a:cubicBezTo>
                  <a:lnTo>
                    <a:pt x="812800" y="608118"/>
                  </a:lnTo>
                  <a:cubicBezTo>
                    <a:pt x="812800" y="644133"/>
                    <a:pt x="783604" y="673329"/>
                    <a:pt x="747589" y="673329"/>
                  </a:cubicBezTo>
                  <a:lnTo>
                    <a:pt x="65211" y="673329"/>
                  </a:lnTo>
                  <a:cubicBezTo>
                    <a:pt x="29196" y="673329"/>
                    <a:pt x="0" y="644133"/>
                    <a:pt x="0" y="608118"/>
                  </a:cubicBezTo>
                  <a:lnTo>
                    <a:pt x="0" y="65211"/>
                  </a:lnTo>
                  <a:cubicBezTo>
                    <a:pt x="0" y="29196"/>
                    <a:pt x="29196" y="0"/>
                    <a:pt x="65211" y="0"/>
                  </a:cubicBezTo>
                  <a:close/>
                </a:path>
              </a:pathLst>
            </a:custGeom>
            <a:blipFill>
              <a:blip r:embed="rId5"/>
              <a:stretch>
                <a:fillRect l="-23725" t="0" r="-2372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7225" y="4161078"/>
            <a:ext cx="2730603" cy="2262049"/>
            <a:chOff x="0" y="0"/>
            <a:chExt cx="812800" cy="6733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673329"/>
            </a:xfrm>
            <a:custGeom>
              <a:avLst/>
              <a:gdLst/>
              <a:ahLst/>
              <a:cxnLst/>
              <a:rect r="r" b="b" t="t" l="l"/>
              <a:pathLst>
                <a:path h="673329" w="812800">
                  <a:moveTo>
                    <a:pt x="65211" y="0"/>
                  </a:moveTo>
                  <a:lnTo>
                    <a:pt x="747589" y="0"/>
                  </a:lnTo>
                  <a:cubicBezTo>
                    <a:pt x="783604" y="0"/>
                    <a:pt x="812800" y="29196"/>
                    <a:pt x="812800" y="65211"/>
                  </a:cubicBezTo>
                  <a:lnTo>
                    <a:pt x="812800" y="608118"/>
                  </a:lnTo>
                  <a:cubicBezTo>
                    <a:pt x="812800" y="644133"/>
                    <a:pt x="783604" y="673329"/>
                    <a:pt x="747589" y="673329"/>
                  </a:cubicBezTo>
                  <a:lnTo>
                    <a:pt x="65211" y="673329"/>
                  </a:lnTo>
                  <a:cubicBezTo>
                    <a:pt x="29196" y="673329"/>
                    <a:pt x="0" y="644133"/>
                    <a:pt x="0" y="608118"/>
                  </a:cubicBezTo>
                  <a:lnTo>
                    <a:pt x="0" y="65211"/>
                  </a:lnTo>
                  <a:cubicBezTo>
                    <a:pt x="0" y="29196"/>
                    <a:pt x="29196" y="0"/>
                    <a:pt x="65211" y="0"/>
                  </a:cubicBezTo>
                  <a:close/>
                </a:path>
              </a:pathLst>
            </a:custGeom>
            <a:blipFill>
              <a:blip r:embed="rId6"/>
              <a:stretch>
                <a:fillRect l="-12286" t="0" r="-1228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46839" y="1593403"/>
            <a:ext cx="2730603" cy="7397399"/>
            <a:chOff x="0" y="0"/>
            <a:chExt cx="812800" cy="22019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2201933"/>
            </a:xfrm>
            <a:custGeom>
              <a:avLst/>
              <a:gdLst/>
              <a:ahLst/>
              <a:cxnLst/>
              <a:rect r="r" b="b" t="t" l="l"/>
              <a:pathLst>
                <a:path h="2201933" w="812800">
                  <a:moveTo>
                    <a:pt x="65211" y="0"/>
                  </a:moveTo>
                  <a:lnTo>
                    <a:pt x="747589" y="0"/>
                  </a:lnTo>
                  <a:cubicBezTo>
                    <a:pt x="783604" y="0"/>
                    <a:pt x="812800" y="29196"/>
                    <a:pt x="812800" y="65211"/>
                  </a:cubicBezTo>
                  <a:lnTo>
                    <a:pt x="812800" y="2136722"/>
                  </a:lnTo>
                  <a:cubicBezTo>
                    <a:pt x="812800" y="2172737"/>
                    <a:pt x="783604" y="2201933"/>
                    <a:pt x="747589" y="2201933"/>
                  </a:cubicBezTo>
                  <a:lnTo>
                    <a:pt x="65211" y="2201933"/>
                  </a:lnTo>
                  <a:cubicBezTo>
                    <a:pt x="29196" y="2201933"/>
                    <a:pt x="0" y="2172737"/>
                    <a:pt x="0" y="2136722"/>
                  </a:cubicBezTo>
                  <a:lnTo>
                    <a:pt x="0" y="65211"/>
                  </a:lnTo>
                  <a:cubicBezTo>
                    <a:pt x="0" y="29196"/>
                    <a:pt x="29196" y="0"/>
                    <a:pt x="65211" y="0"/>
                  </a:cubicBezTo>
                  <a:close/>
                </a:path>
              </a:pathLst>
            </a:custGeom>
            <a:blipFill>
              <a:blip r:embed="rId7"/>
              <a:stretch>
                <a:fillRect l="-157591" t="0" r="-15759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885825" y="8153400"/>
            <a:ext cx="3086100" cy="308610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4BB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7225" y="6728753"/>
            <a:ext cx="2730603" cy="2262049"/>
            <a:chOff x="0" y="0"/>
            <a:chExt cx="812800" cy="6733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73329"/>
            </a:xfrm>
            <a:custGeom>
              <a:avLst/>
              <a:gdLst/>
              <a:ahLst/>
              <a:cxnLst/>
              <a:rect r="r" b="b" t="t" l="l"/>
              <a:pathLst>
                <a:path h="673329" w="812800">
                  <a:moveTo>
                    <a:pt x="65211" y="0"/>
                  </a:moveTo>
                  <a:lnTo>
                    <a:pt x="747589" y="0"/>
                  </a:lnTo>
                  <a:cubicBezTo>
                    <a:pt x="783604" y="0"/>
                    <a:pt x="812800" y="29196"/>
                    <a:pt x="812800" y="65211"/>
                  </a:cubicBezTo>
                  <a:lnTo>
                    <a:pt x="812800" y="608118"/>
                  </a:lnTo>
                  <a:cubicBezTo>
                    <a:pt x="812800" y="644133"/>
                    <a:pt x="783604" y="673329"/>
                    <a:pt x="747589" y="673329"/>
                  </a:cubicBezTo>
                  <a:lnTo>
                    <a:pt x="65211" y="673329"/>
                  </a:lnTo>
                  <a:cubicBezTo>
                    <a:pt x="29196" y="673329"/>
                    <a:pt x="0" y="644133"/>
                    <a:pt x="0" y="608118"/>
                  </a:cubicBezTo>
                  <a:lnTo>
                    <a:pt x="0" y="65211"/>
                  </a:lnTo>
                  <a:cubicBezTo>
                    <a:pt x="0" y="29196"/>
                    <a:pt x="29196" y="0"/>
                    <a:pt x="65211" y="0"/>
                  </a:cubicBezTo>
                  <a:close/>
                </a:path>
              </a:pathLst>
            </a:custGeom>
            <a:blipFill>
              <a:blip r:embed="rId8"/>
              <a:stretch>
                <a:fillRect l="-12052" t="0" r="-12052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7417291" y="4037938"/>
            <a:ext cx="1032651" cy="1032651"/>
          </a:xfrm>
          <a:custGeom>
            <a:avLst/>
            <a:gdLst/>
            <a:ahLst/>
            <a:cxnLst/>
            <a:rect r="r" b="b" t="t" l="l"/>
            <a:pathLst>
              <a:path h="1032651" w="1032651">
                <a:moveTo>
                  <a:pt x="0" y="0"/>
                </a:moveTo>
                <a:lnTo>
                  <a:pt x="1032650" y="0"/>
                </a:lnTo>
                <a:lnTo>
                  <a:pt x="1032650" y="1032651"/>
                </a:lnTo>
                <a:lnTo>
                  <a:pt x="0" y="10326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650343" y="1879875"/>
            <a:ext cx="3366205" cy="1975577"/>
          </a:xfrm>
          <a:custGeom>
            <a:avLst/>
            <a:gdLst/>
            <a:ahLst/>
            <a:cxnLst/>
            <a:rect r="r" b="b" t="t" l="l"/>
            <a:pathLst>
              <a:path h="1975577" w="3366205">
                <a:moveTo>
                  <a:pt x="0" y="0"/>
                </a:moveTo>
                <a:lnTo>
                  <a:pt x="3366205" y="0"/>
                </a:lnTo>
                <a:lnTo>
                  <a:pt x="3366205" y="1975577"/>
                </a:lnTo>
                <a:lnTo>
                  <a:pt x="0" y="19755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9227" b="-12534"/>
            </a:stretch>
          </a:blipFill>
          <a:ln w="38100" cap="sq">
            <a:solidFill>
              <a:srgbClr val="CC4E00"/>
            </a:solidFill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8811891" y="3999838"/>
            <a:ext cx="8793798" cy="562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spc="192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Somos um sistema de agendamento de serviços automotivos. Nosso objetivo é </a:t>
            </a:r>
            <a:r>
              <a:rPr lang="en-US" sz="2028" spc="192" b="true">
                <a:solidFill>
                  <a:srgbClr val="CC4E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facilitar a conexão</a:t>
            </a:r>
            <a:r>
              <a:rPr lang="en-US" sz="2028" spc="192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 entre clientes e prestadores, permitindo aos clientes buscarem serviços de seu interesse e aos prestadores cadastrarem suas empresas.</a:t>
            </a:r>
          </a:p>
          <a:p>
            <a:pPr algn="l">
              <a:lnSpc>
                <a:spcPts val="2839"/>
              </a:lnSpc>
            </a:pPr>
          </a:p>
          <a:p>
            <a:pPr algn="l">
              <a:lnSpc>
                <a:spcPts val="2839"/>
              </a:lnSpc>
            </a:pPr>
            <a:r>
              <a:rPr lang="en-US" sz="2028" spc="192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Além disso, o sistema fornece um </a:t>
            </a:r>
            <a:r>
              <a:rPr lang="en-US" sz="2028" spc="192">
                <a:solidFill>
                  <a:srgbClr val="CC4E00"/>
                </a:solidFill>
                <a:latin typeface="Helvetica Now"/>
                <a:ea typeface="Helvetica Now"/>
                <a:cs typeface="Helvetica Now"/>
                <a:sym typeface="Helvetica Now"/>
              </a:rPr>
              <a:t>sistema de agendamento </a:t>
            </a:r>
            <a:r>
              <a:rPr lang="en-US" sz="2028" spc="192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interativo, em que os prestadores controlam sua disponibilidade e os clientes agendam de acordo com sua conveniência.</a:t>
            </a:r>
          </a:p>
          <a:p>
            <a:pPr algn="l">
              <a:lnSpc>
                <a:spcPts val="2839"/>
              </a:lnSpc>
            </a:pPr>
          </a:p>
          <a:p>
            <a:pPr algn="l">
              <a:lnSpc>
                <a:spcPts val="2839"/>
              </a:lnSpc>
            </a:pPr>
            <a:r>
              <a:rPr lang="en-US" sz="2028" spc="192" b="true">
                <a:solidFill>
                  <a:srgbClr val="CC4E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Missão</a:t>
            </a:r>
            <a:r>
              <a:rPr lang="en-US" sz="2028" spc="192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: Otimizar a organização dos atendimentos de prestadores de serviços automotivos e melhorar a experiência dos clientes por meio de um sistema que facilite a busca e o agendamento de serviços.</a:t>
            </a:r>
          </a:p>
          <a:p>
            <a:pPr algn="l">
              <a:lnSpc>
                <a:spcPts val="283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085182" y="1574353"/>
            <a:ext cx="10216981" cy="168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20"/>
              </a:lnSpc>
            </a:pPr>
            <a:r>
              <a:rPr lang="en-US" b="true" sz="11000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Sobre nós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8" r="0" b="-1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33849" y="8298419"/>
            <a:ext cx="7805062" cy="1395155"/>
          </a:xfrm>
          <a:custGeom>
            <a:avLst/>
            <a:gdLst/>
            <a:ahLst/>
            <a:cxnLst/>
            <a:rect r="r" b="b" t="t" l="l"/>
            <a:pathLst>
              <a:path h="1395155" w="7805062">
                <a:moveTo>
                  <a:pt x="0" y="0"/>
                </a:moveTo>
                <a:lnTo>
                  <a:pt x="7805062" y="0"/>
                </a:lnTo>
                <a:lnTo>
                  <a:pt x="7805062" y="1395154"/>
                </a:lnTo>
                <a:lnTo>
                  <a:pt x="0" y="1395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847809"/>
            <a:ext cx="8115300" cy="1450610"/>
          </a:xfrm>
          <a:custGeom>
            <a:avLst/>
            <a:gdLst/>
            <a:ahLst/>
            <a:cxnLst/>
            <a:rect r="r" b="b" t="t" l="l"/>
            <a:pathLst>
              <a:path h="1450610" w="8115300">
                <a:moveTo>
                  <a:pt x="0" y="0"/>
                </a:moveTo>
                <a:lnTo>
                  <a:pt x="8115300" y="0"/>
                </a:lnTo>
                <a:lnTo>
                  <a:pt x="8115300" y="1450610"/>
                </a:lnTo>
                <a:lnTo>
                  <a:pt x="0" y="14506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31916" y="3173543"/>
            <a:ext cx="6927384" cy="1238270"/>
          </a:xfrm>
          <a:custGeom>
            <a:avLst/>
            <a:gdLst/>
            <a:ahLst/>
            <a:cxnLst/>
            <a:rect r="r" b="b" t="t" l="l"/>
            <a:pathLst>
              <a:path h="1238270" w="6927384">
                <a:moveTo>
                  <a:pt x="0" y="0"/>
                </a:moveTo>
                <a:lnTo>
                  <a:pt x="6927384" y="0"/>
                </a:lnTo>
                <a:lnTo>
                  <a:pt x="6927384" y="1238270"/>
                </a:lnTo>
                <a:lnTo>
                  <a:pt x="0" y="1238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79199" y="1028700"/>
            <a:ext cx="8114361" cy="8101997"/>
            <a:chOff x="0" y="0"/>
            <a:chExt cx="2137116" cy="21338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7116" cy="2133859"/>
            </a:xfrm>
            <a:custGeom>
              <a:avLst/>
              <a:gdLst/>
              <a:ahLst/>
              <a:cxnLst/>
              <a:rect r="r" b="b" t="t" l="l"/>
              <a:pathLst>
                <a:path h="2133859" w="2137116">
                  <a:moveTo>
                    <a:pt x="14312" y="0"/>
                  </a:moveTo>
                  <a:lnTo>
                    <a:pt x="2122804" y="0"/>
                  </a:lnTo>
                  <a:cubicBezTo>
                    <a:pt x="2126600" y="0"/>
                    <a:pt x="2130240" y="1508"/>
                    <a:pt x="2132924" y="4192"/>
                  </a:cubicBezTo>
                  <a:cubicBezTo>
                    <a:pt x="2135608" y="6876"/>
                    <a:pt x="2137116" y="10516"/>
                    <a:pt x="2137116" y="14312"/>
                  </a:cubicBezTo>
                  <a:lnTo>
                    <a:pt x="2137116" y="2119548"/>
                  </a:lnTo>
                  <a:cubicBezTo>
                    <a:pt x="2137116" y="2123343"/>
                    <a:pt x="2135608" y="2126984"/>
                    <a:pt x="2132924" y="2129667"/>
                  </a:cubicBezTo>
                  <a:cubicBezTo>
                    <a:pt x="2130240" y="2132351"/>
                    <a:pt x="2126600" y="2133859"/>
                    <a:pt x="2122804" y="2133859"/>
                  </a:cubicBezTo>
                  <a:lnTo>
                    <a:pt x="14312" y="2133859"/>
                  </a:lnTo>
                  <a:cubicBezTo>
                    <a:pt x="10516" y="2133859"/>
                    <a:pt x="6876" y="2132351"/>
                    <a:pt x="4192" y="2129667"/>
                  </a:cubicBezTo>
                  <a:cubicBezTo>
                    <a:pt x="1508" y="2126984"/>
                    <a:pt x="0" y="2123343"/>
                    <a:pt x="0" y="2119548"/>
                  </a:cubicBezTo>
                  <a:lnTo>
                    <a:pt x="0" y="14312"/>
                  </a:lnTo>
                  <a:cubicBezTo>
                    <a:pt x="0" y="10516"/>
                    <a:pt x="1508" y="6876"/>
                    <a:pt x="4192" y="4192"/>
                  </a:cubicBezTo>
                  <a:cubicBezTo>
                    <a:pt x="6876" y="1508"/>
                    <a:pt x="10516" y="0"/>
                    <a:pt x="1431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37116" cy="217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173543"/>
            <a:ext cx="8115300" cy="4445406"/>
            <a:chOff x="0" y="0"/>
            <a:chExt cx="1257272" cy="6887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7272" cy="688710"/>
            </a:xfrm>
            <a:custGeom>
              <a:avLst/>
              <a:gdLst/>
              <a:ahLst/>
              <a:cxnLst/>
              <a:rect r="r" b="b" t="t" l="l"/>
              <a:pathLst>
                <a:path h="688710" w="1257272">
                  <a:moveTo>
                    <a:pt x="21942" y="0"/>
                  </a:moveTo>
                  <a:lnTo>
                    <a:pt x="1235331" y="0"/>
                  </a:lnTo>
                  <a:cubicBezTo>
                    <a:pt x="1247449" y="0"/>
                    <a:pt x="1257272" y="9824"/>
                    <a:pt x="1257272" y="21942"/>
                  </a:cubicBezTo>
                  <a:lnTo>
                    <a:pt x="1257272" y="666768"/>
                  </a:lnTo>
                  <a:cubicBezTo>
                    <a:pt x="1257272" y="672587"/>
                    <a:pt x="1254961" y="678168"/>
                    <a:pt x="1250846" y="682283"/>
                  </a:cubicBezTo>
                  <a:cubicBezTo>
                    <a:pt x="1246731" y="686398"/>
                    <a:pt x="1241150" y="688710"/>
                    <a:pt x="1235331" y="688710"/>
                  </a:cubicBezTo>
                  <a:lnTo>
                    <a:pt x="21942" y="688710"/>
                  </a:lnTo>
                  <a:cubicBezTo>
                    <a:pt x="9824" y="688710"/>
                    <a:pt x="0" y="678886"/>
                    <a:pt x="0" y="666768"/>
                  </a:cubicBezTo>
                  <a:lnTo>
                    <a:pt x="0" y="21942"/>
                  </a:lnTo>
                  <a:cubicBezTo>
                    <a:pt x="0" y="16122"/>
                    <a:pt x="2312" y="10541"/>
                    <a:pt x="6427" y="6427"/>
                  </a:cubicBezTo>
                  <a:cubicBezTo>
                    <a:pt x="10541" y="2312"/>
                    <a:pt x="16122" y="0"/>
                    <a:pt x="2194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813" r="0" b="-1081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019175"/>
            <a:ext cx="8115300" cy="11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72"/>
              </a:lnSpc>
            </a:pPr>
            <a:r>
              <a:rPr lang="en-US" b="true" sz="7600">
                <a:solidFill>
                  <a:srgbClr val="10101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Seus problemas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4557" y="1350250"/>
            <a:ext cx="7478120" cy="774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spc="19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No setor automotivo, tanto clientes quanto prestadores enfrentam dificuldades relacionadas à falta de praticidade, agilidade e organização dos atendimentos.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190" u="sng">
                <a:solidFill>
                  <a:srgbClr val="CC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Dificuldade para encontrar prestadores:</a:t>
            </a:r>
            <a:r>
              <a:rPr lang="en-US" sz="2000" spc="190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 </a:t>
            </a:r>
            <a:r>
              <a:rPr lang="en-US" sz="2000" spc="19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Clientes precisam fazer contato ou se deslocar entre vários prestadores até encontrar o que melhor atende à sua necessidade.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190" u="sng">
                <a:solidFill>
                  <a:srgbClr val="CC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Desorganização nas oficinas:</a:t>
            </a:r>
            <a:r>
              <a:rPr lang="en-US" sz="2000" spc="190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 </a:t>
            </a:r>
            <a:r>
              <a:rPr lang="en-US" sz="2000" spc="19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Filas de serviços sem ordem de prioridade, atrasos em entregas, desentendimentos com clientes.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190" u="sng">
                <a:solidFill>
                  <a:srgbClr val="CC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Falta de transparência:</a:t>
            </a:r>
            <a:r>
              <a:rPr lang="en-US" sz="2000" spc="190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 </a:t>
            </a:r>
            <a:r>
              <a:rPr lang="en-US" sz="2000" spc="19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Informações imprecisas sobre tempo de serviços, preços de peças e mão de obra, e falta de previsão de entrega.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190" u="sng">
                <a:solidFill>
                  <a:srgbClr val="CC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Agendamentos urgentes:</a:t>
            </a:r>
            <a:r>
              <a:rPr lang="en-US" sz="2000" spc="190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 </a:t>
            </a:r>
            <a:r>
              <a:rPr lang="en-US" sz="2000" spc="190">
                <a:solidFill>
                  <a:srgbClr val="000000"/>
                </a:solidFill>
                <a:latin typeface="Helvetica Now"/>
                <a:ea typeface="Helvetica Now"/>
                <a:cs typeface="Helvetica Now"/>
                <a:sym typeface="Helvetica Now"/>
              </a:rPr>
              <a:t>Em casos de urgência, o cliente não sabe onde conseguir atendimento mais rápido.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8" r="0" b="-1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33849" y="8298419"/>
            <a:ext cx="7805062" cy="1395155"/>
          </a:xfrm>
          <a:custGeom>
            <a:avLst/>
            <a:gdLst/>
            <a:ahLst/>
            <a:cxnLst/>
            <a:rect r="r" b="b" t="t" l="l"/>
            <a:pathLst>
              <a:path h="1395155" w="7805062">
                <a:moveTo>
                  <a:pt x="0" y="0"/>
                </a:moveTo>
                <a:lnTo>
                  <a:pt x="7805062" y="0"/>
                </a:lnTo>
                <a:lnTo>
                  <a:pt x="7805062" y="1395154"/>
                </a:lnTo>
                <a:lnTo>
                  <a:pt x="0" y="1395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847809"/>
            <a:ext cx="8115300" cy="1450610"/>
          </a:xfrm>
          <a:custGeom>
            <a:avLst/>
            <a:gdLst/>
            <a:ahLst/>
            <a:cxnLst/>
            <a:rect r="r" b="b" t="t" l="l"/>
            <a:pathLst>
              <a:path h="1450610" w="8115300">
                <a:moveTo>
                  <a:pt x="0" y="0"/>
                </a:moveTo>
                <a:lnTo>
                  <a:pt x="8115300" y="0"/>
                </a:lnTo>
                <a:lnTo>
                  <a:pt x="8115300" y="1450610"/>
                </a:lnTo>
                <a:lnTo>
                  <a:pt x="0" y="14506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31916" y="3173543"/>
            <a:ext cx="6927384" cy="1238270"/>
          </a:xfrm>
          <a:custGeom>
            <a:avLst/>
            <a:gdLst/>
            <a:ahLst/>
            <a:cxnLst/>
            <a:rect r="r" b="b" t="t" l="l"/>
            <a:pathLst>
              <a:path h="1238270" w="6927384">
                <a:moveTo>
                  <a:pt x="0" y="0"/>
                </a:moveTo>
                <a:lnTo>
                  <a:pt x="6927384" y="0"/>
                </a:lnTo>
                <a:lnTo>
                  <a:pt x="6927384" y="1238270"/>
                </a:lnTo>
                <a:lnTo>
                  <a:pt x="0" y="12382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79199" y="1028700"/>
            <a:ext cx="8114361" cy="8101997"/>
            <a:chOff x="0" y="0"/>
            <a:chExt cx="2137116" cy="21338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7116" cy="2133859"/>
            </a:xfrm>
            <a:custGeom>
              <a:avLst/>
              <a:gdLst/>
              <a:ahLst/>
              <a:cxnLst/>
              <a:rect r="r" b="b" t="t" l="l"/>
              <a:pathLst>
                <a:path h="2133859" w="2137116">
                  <a:moveTo>
                    <a:pt x="14312" y="0"/>
                  </a:moveTo>
                  <a:lnTo>
                    <a:pt x="2122804" y="0"/>
                  </a:lnTo>
                  <a:cubicBezTo>
                    <a:pt x="2126600" y="0"/>
                    <a:pt x="2130240" y="1508"/>
                    <a:pt x="2132924" y="4192"/>
                  </a:cubicBezTo>
                  <a:cubicBezTo>
                    <a:pt x="2135608" y="6876"/>
                    <a:pt x="2137116" y="10516"/>
                    <a:pt x="2137116" y="14312"/>
                  </a:cubicBezTo>
                  <a:lnTo>
                    <a:pt x="2137116" y="2119548"/>
                  </a:lnTo>
                  <a:cubicBezTo>
                    <a:pt x="2137116" y="2123343"/>
                    <a:pt x="2135608" y="2126984"/>
                    <a:pt x="2132924" y="2129667"/>
                  </a:cubicBezTo>
                  <a:cubicBezTo>
                    <a:pt x="2130240" y="2132351"/>
                    <a:pt x="2126600" y="2133859"/>
                    <a:pt x="2122804" y="2133859"/>
                  </a:cubicBezTo>
                  <a:lnTo>
                    <a:pt x="14312" y="2133859"/>
                  </a:lnTo>
                  <a:cubicBezTo>
                    <a:pt x="10516" y="2133859"/>
                    <a:pt x="6876" y="2132351"/>
                    <a:pt x="4192" y="2129667"/>
                  </a:cubicBezTo>
                  <a:cubicBezTo>
                    <a:pt x="1508" y="2126984"/>
                    <a:pt x="0" y="2123343"/>
                    <a:pt x="0" y="2119548"/>
                  </a:cubicBezTo>
                  <a:lnTo>
                    <a:pt x="0" y="14312"/>
                  </a:lnTo>
                  <a:cubicBezTo>
                    <a:pt x="0" y="10516"/>
                    <a:pt x="1508" y="6876"/>
                    <a:pt x="4192" y="4192"/>
                  </a:cubicBezTo>
                  <a:cubicBezTo>
                    <a:pt x="6876" y="1508"/>
                    <a:pt x="10516" y="0"/>
                    <a:pt x="1431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37116" cy="2171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173543"/>
            <a:ext cx="8115300" cy="4445406"/>
            <a:chOff x="0" y="0"/>
            <a:chExt cx="1257272" cy="6887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7272" cy="688710"/>
            </a:xfrm>
            <a:custGeom>
              <a:avLst/>
              <a:gdLst/>
              <a:ahLst/>
              <a:cxnLst/>
              <a:rect r="r" b="b" t="t" l="l"/>
              <a:pathLst>
                <a:path h="688710" w="1257272">
                  <a:moveTo>
                    <a:pt x="21942" y="0"/>
                  </a:moveTo>
                  <a:lnTo>
                    <a:pt x="1235331" y="0"/>
                  </a:lnTo>
                  <a:cubicBezTo>
                    <a:pt x="1247449" y="0"/>
                    <a:pt x="1257272" y="9824"/>
                    <a:pt x="1257272" y="21942"/>
                  </a:cubicBezTo>
                  <a:lnTo>
                    <a:pt x="1257272" y="666768"/>
                  </a:lnTo>
                  <a:cubicBezTo>
                    <a:pt x="1257272" y="672587"/>
                    <a:pt x="1254961" y="678168"/>
                    <a:pt x="1250846" y="682283"/>
                  </a:cubicBezTo>
                  <a:cubicBezTo>
                    <a:pt x="1246731" y="686398"/>
                    <a:pt x="1241150" y="688710"/>
                    <a:pt x="1235331" y="688710"/>
                  </a:cubicBezTo>
                  <a:lnTo>
                    <a:pt x="21942" y="688710"/>
                  </a:lnTo>
                  <a:cubicBezTo>
                    <a:pt x="9824" y="688710"/>
                    <a:pt x="0" y="678886"/>
                    <a:pt x="0" y="666768"/>
                  </a:cubicBezTo>
                  <a:lnTo>
                    <a:pt x="0" y="21942"/>
                  </a:lnTo>
                  <a:cubicBezTo>
                    <a:pt x="0" y="16122"/>
                    <a:pt x="2312" y="10541"/>
                    <a:pt x="6427" y="6427"/>
                  </a:cubicBezTo>
                  <a:cubicBezTo>
                    <a:pt x="10541" y="2312"/>
                    <a:pt x="16122" y="0"/>
                    <a:pt x="2194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927" r="0" b="-1092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1009650"/>
            <a:ext cx="8115300" cy="1386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79"/>
              </a:lnSpc>
            </a:pPr>
            <a:r>
              <a:rPr lang="en-US" b="true" sz="8999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Nossa Solução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4557" y="1350250"/>
            <a:ext cx="7478120" cy="738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190" u="sng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Praticidade na busca por serviços automotivos</a:t>
            </a:r>
            <a:r>
              <a:rPr lang="en-US" sz="2000" spc="190" u="sng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:</a:t>
            </a:r>
            <a:r>
              <a:rPr lang="en-US" sz="2000" spc="190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 Clientes encontram um catálogo variado de prestadores, podendo filtrar por categoria, localização e avaliação. Prestadores ampliam seu alcance por meio do sistema.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190" u="sng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Agenda organizada de serviços</a:t>
            </a:r>
            <a:r>
              <a:rPr lang="en-US" sz="2000" spc="190" u="sng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:</a:t>
            </a:r>
            <a:r>
              <a:rPr lang="en-US" sz="2000" spc="190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 Prestadores encontram um sistema de agendamento interativo, onde cadastram sua disponibilidade e podem gerenciar solicitações de atendimentos. Clientes podem solicitar agendamento de acordo com sua conveniência.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 spc="190" u="sng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</a:t>
            </a:r>
            <a:r>
              <a:rPr lang="en-US" b="true" sz="2000" spc="190" u="sng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ransparência nos serviços</a:t>
            </a:r>
            <a:r>
              <a:rPr lang="en-US" sz="2000" spc="190" u="sng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:</a:t>
            </a:r>
            <a:r>
              <a:rPr lang="en-US" sz="2000" spc="190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 Os prestadores fornecem informações claras aos clientes (ex.: preço médio da mão de obra, prazo para conclusão de serviços, entre outras). Os clientes, por sua vez, podem solicitar orçamentos de forma prévia ao agendamento. 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9732" y="0"/>
            <a:ext cx="5928045" cy="2587728"/>
            <a:chOff x="0" y="0"/>
            <a:chExt cx="812800" cy="3548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54806"/>
            </a:xfrm>
            <a:custGeom>
              <a:avLst/>
              <a:gdLst/>
              <a:ahLst/>
              <a:cxnLst/>
              <a:rect r="r" b="b" t="t" l="l"/>
              <a:pathLst>
                <a:path h="354806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354806"/>
                  </a:lnTo>
                  <a:lnTo>
                    <a:pt x="0" y="354806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0" t="-26456" r="0" b="-2645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02085" y="0"/>
            <a:ext cx="13143233" cy="2587728"/>
            <a:chOff x="0" y="0"/>
            <a:chExt cx="1802081" cy="354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02081" cy="354806"/>
            </a:xfrm>
            <a:custGeom>
              <a:avLst/>
              <a:gdLst/>
              <a:ahLst/>
              <a:cxnLst/>
              <a:rect r="r" b="b" t="t" l="l"/>
              <a:pathLst>
                <a:path h="354806" w="1802081">
                  <a:moveTo>
                    <a:pt x="203200" y="0"/>
                  </a:moveTo>
                  <a:lnTo>
                    <a:pt x="1802081" y="0"/>
                  </a:lnTo>
                  <a:lnTo>
                    <a:pt x="1598881" y="354806"/>
                  </a:lnTo>
                  <a:lnTo>
                    <a:pt x="0" y="35480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4BB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032007" y="-154859"/>
            <a:ext cx="5662573" cy="2742587"/>
            <a:chOff x="0" y="0"/>
            <a:chExt cx="776401" cy="3760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6401" cy="376039"/>
            </a:xfrm>
            <a:custGeom>
              <a:avLst/>
              <a:gdLst/>
              <a:ahLst/>
              <a:cxnLst/>
              <a:rect r="r" b="b" t="t" l="l"/>
              <a:pathLst>
                <a:path h="376039" w="776401">
                  <a:moveTo>
                    <a:pt x="203200" y="0"/>
                  </a:moveTo>
                  <a:lnTo>
                    <a:pt x="776401" y="0"/>
                  </a:lnTo>
                  <a:lnTo>
                    <a:pt x="573201" y="376039"/>
                  </a:lnTo>
                  <a:lnTo>
                    <a:pt x="0" y="376039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0" t="-18779" r="0" b="-1877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670402"/>
            <a:ext cx="8115300" cy="138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80"/>
              </a:lnSpc>
            </a:pPr>
            <a:r>
              <a:rPr lang="en-US" b="true" sz="9000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Requisitos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7835" y="3698589"/>
            <a:ext cx="7837558" cy="588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190" u="sng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Usuário</a:t>
            </a: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 spc="176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Realiza login e gerencia seu cadastro.</a:t>
            </a:r>
          </a:p>
          <a:p>
            <a:pPr algn="l">
              <a:lnSpc>
                <a:spcPts val="1960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190" u="sng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Cliente</a:t>
            </a: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 spc="176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Filtra, agenda serviços, gerencia agendamentos, solicita orçamentos e avalia os prestadores</a:t>
            </a:r>
            <a:r>
              <a:rPr lang="en-US" b="true" sz="2600" spc="176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</a:t>
            </a:r>
          </a:p>
          <a:p>
            <a:pPr algn="l">
              <a:lnSpc>
                <a:spcPts val="1960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190" u="sng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Prestador</a:t>
            </a: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 spc="176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Gerencia sua agenda, gerencia seus produtos e serviços, envia orçamentos e emite relatórios</a:t>
            </a:r>
          </a:p>
          <a:p>
            <a:pPr algn="l">
              <a:lnSpc>
                <a:spcPts val="196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7835" y="2948019"/>
            <a:ext cx="6602536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</a:pPr>
            <a:r>
              <a:rPr lang="en-US" b="true" sz="3600" spc="244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Funcionais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65908" y="3698589"/>
            <a:ext cx="8766711" cy="633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190" u="sng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Sistema</a:t>
            </a: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 spc="176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Interface adaptável de 360px a 1920px;</a:t>
            </a:r>
          </a:p>
          <a:p>
            <a:pPr algn="l">
              <a:lnSpc>
                <a:spcPts val="1399"/>
              </a:lnSpc>
            </a:pP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 spc="176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Principais funcionalidades acessíveis em até 5 cliques da tela inicial;</a:t>
            </a:r>
          </a:p>
          <a:p>
            <a:pPr algn="l">
              <a:lnSpc>
                <a:spcPts val="1399"/>
              </a:lnSpc>
            </a:pP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 spc="176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Suportar aumento de 50% no volume de requisições (ref.: últimos 30 dias);</a:t>
            </a:r>
          </a:p>
          <a:p>
            <a:pPr algn="l">
              <a:lnSpc>
                <a:spcPts val="1399"/>
              </a:lnSpc>
            </a:pP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 spc="176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Estar disponível 24/7, por no mínimo 99% ao mês;</a:t>
            </a:r>
          </a:p>
          <a:p>
            <a:pPr algn="l">
              <a:lnSpc>
                <a:spcPts val="1399"/>
              </a:lnSpc>
            </a:pP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 spc="176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Máximo 3 seg. de carregamento entre páginas (condições normais de uso)</a:t>
            </a:r>
          </a:p>
          <a:p>
            <a:pPr algn="l">
              <a:lnSpc>
                <a:spcPts val="1399"/>
              </a:lnSpc>
            </a:pPr>
          </a:p>
          <a:p>
            <a:pPr algn="l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 spc="176">
                <a:solidFill>
                  <a:srgbClr val="004BBD"/>
                </a:solidFill>
                <a:latin typeface="Helvetica Now"/>
                <a:ea typeface="Helvetica Now"/>
                <a:cs typeface="Helvetica Now"/>
                <a:sym typeface="Helvetica Now"/>
              </a:rPr>
              <a:t>LGPD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196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165908" y="2948019"/>
            <a:ext cx="6602536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</a:pPr>
            <a:r>
              <a:rPr lang="en-US" b="true" sz="3600" spc="244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Não Funcionais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8" r="0" b="-1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246" y="797480"/>
            <a:ext cx="13675674" cy="98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2"/>
              </a:lnSpc>
            </a:pPr>
            <a:r>
              <a:rPr lang="en-US" b="true" sz="6403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Diagrama de Casos de Uso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466713" y="2488798"/>
            <a:ext cx="13354573" cy="17940811"/>
          </a:xfrm>
          <a:custGeom>
            <a:avLst/>
            <a:gdLst/>
            <a:ahLst/>
            <a:cxnLst/>
            <a:rect r="r" b="b" t="t" l="l"/>
            <a:pathLst>
              <a:path h="17940811" w="13354573">
                <a:moveTo>
                  <a:pt x="0" y="0"/>
                </a:moveTo>
                <a:lnTo>
                  <a:pt x="13354574" y="0"/>
                </a:lnTo>
                <a:lnTo>
                  <a:pt x="13354574" y="17940811"/>
                </a:lnTo>
                <a:lnTo>
                  <a:pt x="0" y="17940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0" t="0" r="-12" b="-17318"/>
            </a:stretch>
          </a:blipFill>
          <a:ln w="38100" cap="sq">
            <a:solidFill>
              <a:srgbClr val="004BBD"/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8" r="0" b="-1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66713" y="-3550372"/>
            <a:ext cx="13354573" cy="17387744"/>
          </a:xfrm>
          <a:custGeom>
            <a:avLst/>
            <a:gdLst/>
            <a:ahLst/>
            <a:cxnLst/>
            <a:rect r="r" b="b" t="t" l="l"/>
            <a:pathLst>
              <a:path h="17387744" w="13354573">
                <a:moveTo>
                  <a:pt x="0" y="0"/>
                </a:moveTo>
                <a:lnTo>
                  <a:pt x="13354574" y="0"/>
                </a:lnTo>
                <a:lnTo>
                  <a:pt x="13354574" y="17387744"/>
                </a:lnTo>
                <a:lnTo>
                  <a:pt x="0" y="173877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7" t="-3153" r="0" b="-17864"/>
            </a:stretch>
          </a:blipFill>
          <a:ln w="38100" cap="sq">
            <a:solidFill>
              <a:srgbClr val="004BBD"/>
            </a:solidFill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8" r="0" b="-1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66975" y="-10695676"/>
            <a:ext cx="13354573" cy="20617657"/>
          </a:xfrm>
          <a:custGeom>
            <a:avLst/>
            <a:gdLst/>
            <a:ahLst/>
            <a:cxnLst/>
            <a:rect r="r" b="b" t="t" l="l"/>
            <a:pathLst>
              <a:path h="20617657" w="13354573">
                <a:moveTo>
                  <a:pt x="0" y="0"/>
                </a:moveTo>
                <a:lnTo>
                  <a:pt x="13354573" y="0"/>
                </a:lnTo>
                <a:lnTo>
                  <a:pt x="13354573" y="20617657"/>
                </a:lnTo>
                <a:lnTo>
                  <a:pt x="0" y="20617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93" t="-2675" r="-301" b="0"/>
            </a:stretch>
          </a:blipFill>
          <a:ln w="38100" cap="sq">
            <a:solidFill>
              <a:srgbClr val="004BBD"/>
            </a:solidFill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8" r="0" b="-1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461493" y="2465483"/>
            <a:ext cx="21210985" cy="0"/>
          </a:xfrm>
          <a:prstGeom prst="line">
            <a:avLst/>
          </a:prstGeom>
          <a:ln cap="flat" w="38100">
            <a:solidFill>
              <a:srgbClr val="101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002098" y="2213519"/>
            <a:ext cx="503928" cy="50392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4E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539884" y="2213519"/>
            <a:ext cx="503928" cy="50392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4E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02098" y="2913485"/>
            <a:ext cx="42211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204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Usuários Clientes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9884" y="2913485"/>
            <a:ext cx="478162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204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Usuários Prestadores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2098" y="3562441"/>
            <a:ext cx="5524500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Realizar cadastro, fazer login, navegar pelo sistema para encontrar prestadores no catálogo, solicitar orçamento e realizar agendamento.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39884" y="3562441"/>
            <a:ext cx="5524500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Realizar cadastro, fazer login, navegar pelo sistema para gerenciar seus produtos e serviços no catálogo, gerenciar sua disponibilidade na agenda, aceitar/recusar solicitações.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8369" y="532008"/>
            <a:ext cx="13675674" cy="98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2"/>
              </a:lnSpc>
            </a:pPr>
            <a:r>
              <a:rPr lang="en-US" b="true" sz="6403">
                <a:solidFill>
                  <a:srgbClr val="00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Testes e Avaliação Heurística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8" r="0" b="-1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461493" y="2465483"/>
            <a:ext cx="21210985" cy="0"/>
          </a:xfrm>
          <a:prstGeom prst="line">
            <a:avLst/>
          </a:prstGeom>
          <a:ln cap="flat" w="38100">
            <a:solidFill>
              <a:srgbClr val="101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002098" y="2213519"/>
            <a:ext cx="503928" cy="50392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BB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539884" y="2213519"/>
            <a:ext cx="503928" cy="50392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BB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002098" y="2913485"/>
            <a:ext cx="42211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204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Testes com Clientes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39884" y="2913485"/>
            <a:ext cx="55245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204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Testes com Prestadores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2098" y="3562441"/>
            <a:ext cx="5524500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De modo geral, os usuários testados demonstraram facilidade em utilizar a plataforma. Algumas dificuldades foram observadas entre aqueles com menor familiaridade em tecnologias.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39884" y="3562441"/>
            <a:ext cx="5524500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Resultados semelhantes aos testes com clientes. Os prestadores menos letrados em tecnologias apresentaram pequenas dificuldades, mas em geral os usuários completaram facilmente as tarefas propostas.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8369" y="532008"/>
            <a:ext cx="13675674" cy="98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2"/>
              </a:lnSpc>
            </a:pPr>
            <a:r>
              <a:rPr lang="en-US" b="true" sz="6403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Resultados dos Testes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8" r="0" b="-1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461493" y="2467354"/>
            <a:ext cx="21210985" cy="0"/>
          </a:xfrm>
          <a:prstGeom prst="line">
            <a:avLst/>
          </a:prstGeom>
          <a:ln cap="flat" w="38100">
            <a:solidFill>
              <a:srgbClr val="10101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002098" y="2215389"/>
            <a:ext cx="503928" cy="50392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BB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620327" y="2966968"/>
            <a:ext cx="14506313" cy="644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Em resumo, observou-se a ocorrência de problemas catastróficos e grandes que devem ser resolvidos de forma prioritária, uma vez que estão relacionados a funcionalidades essenciais do sistema, a saber: </a:t>
            </a:r>
          </a:p>
          <a:p>
            <a:pPr algn="l">
              <a:lnSpc>
                <a:spcPts val="3639"/>
              </a:lnSpc>
            </a:pP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‘</a:t>
            </a:r>
            <a:r>
              <a:rPr lang="en-US" sz="2599" spc="246" b="true">
                <a:solidFill>
                  <a:srgbClr val="CC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Solicitar orçamento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’ e ‘</a:t>
            </a:r>
            <a:r>
              <a:rPr lang="en-US" sz="2599" spc="246" b="true">
                <a:solidFill>
                  <a:srgbClr val="CC00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Gerenciar agendamentos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’. </a:t>
            </a:r>
          </a:p>
          <a:p>
            <a:pPr algn="l">
              <a:lnSpc>
                <a:spcPts val="1680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Além desses, foram identificados problemas de baixa severidade ou ainda considerados cosméticos, que também devem ser resolvidos oportunamente.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spc="246" u="sng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Principais Heurísticas violadas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: Controle e liberdade do usuário (7/18); Visibilidade do estado do sistema (5/18); Prevenção de erros (5/18); Consistência e padronização (4/18).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spc="246" u="sng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Problemas classificados por severidade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: 2 catastróficos, 8 grandes, 6 pequenos e 2 cosméticos. Total: 18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08369" y="532008"/>
            <a:ext cx="13919024" cy="98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12"/>
              </a:lnSpc>
            </a:pPr>
            <a:r>
              <a:rPr lang="en-US" b="true" sz="6403">
                <a:solidFill>
                  <a:srgbClr val="004BBD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Resultados da Avaliação Heurística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99" r="0" b="-8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484724"/>
            <a:ext cx="320094" cy="370051"/>
          </a:xfrm>
          <a:custGeom>
            <a:avLst/>
            <a:gdLst/>
            <a:ahLst/>
            <a:cxnLst/>
            <a:rect r="r" b="b" t="t" l="l"/>
            <a:pathLst>
              <a:path h="370051" w="320094">
                <a:moveTo>
                  <a:pt x="0" y="0"/>
                </a:moveTo>
                <a:lnTo>
                  <a:pt x="320094" y="0"/>
                </a:lnTo>
                <a:lnTo>
                  <a:pt x="320094" y="370050"/>
                </a:lnTo>
                <a:lnTo>
                  <a:pt x="0" y="37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95789"/>
            <a:ext cx="8587794" cy="138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80"/>
              </a:lnSpc>
            </a:pPr>
            <a:r>
              <a:rPr lang="en-US" b="true" sz="9000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AgendaCar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7164" y="3335104"/>
            <a:ext cx="5479729" cy="451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spc="217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Clique </a:t>
            </a:r>
            <a:r>
              <a:rPr lang="en-US" b="true" sz="3200" spc="217" u="sng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aqui</a:t>
            </a:r>
            <a:r>
              <a:rPr lang="en-US" sz="3200" spc="217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 para ver o vídeo demonstrativo do sistema.</a:t>
            </a:r>
          </a:p>
          <a:p>
            <a:pPr algn="l">
              <a:lnSpc>
                <a:spcPts val="3520"/>
              </a:lnSpc>
            </a:pPr>
          </a:p>
          <a:p>
            <a:pPr algn="l">
              <a:lnSpc>
                <a:spcPts val="3520"/>
              </a:lnSpc>
            </a:pPr>
          </a:p>
          <a:p>
            <a:pPr algn="l">
              <a:lnSpc>
                <a:spcPts val="3520"/>
              </a:lnSpc>
            </a:pPr>
          </a:p>
          <a:p>
            <a:pPr algn="l">
              <a:lnSpc>
                <a:spcPts val="3520"/>
              </a:lnSpc>
            </a:pPr>
          </a:p>
          <a:p>
            <a:pPr algn="l">
              <a:lnSpc>
                <a:spcPts val="3520"/>
              </a:lnSpc>
            </a:pPr>
          </a:p>
          <a:p>
            <a:pPr algn="l" marL="0" indent="0" lvl="0">
              <a:lnSpc>
                <a:spcPts val="352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571507" y="2309487"/>
            <a:ext cx="8059463" cy="5668025"/>
          </a:xfrm>
          <a:custGeom>
            <a:avLst/>
            <a:gdLst/>
            <a:ahLst/>
            <a:cxnLst/>
            <a:rect r="r" b="b" t="t" l="l"/>
            <a:pathLst>
              <a:path h="5668025" w="8059463">
                <a:moveTo>
                  <a:pt x="0" y="0"/>
                </a:moveTo>
                <a:lnTo>
                  <a:pt x="8059464" y="0"/>
                </a:lnTo>
                <a:lnTo>
                  <a:pt x="8059464" y="5668026"/>
                </a:lnTo>
                <a:lnTo>
                  <a:pt x="0" y="56680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524" t="0" r="-18865" b="-7806"/>
            </a:stretch>
          </a:blipFill>
          <a:ln w="38100" cap="sq">
            <a:solidFill>
              <a:srgbClr val="CC4E00"/>
            </a:solidFill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5124" y="-340450"/>
            <a:ext cx="8419926" cy="2970167"/>
            <a:chOff x="0" y="0"/>
            <a:chExt cx="2217594" cy="7822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7594" cy="782266"/>
            </a:xfrm>
            <a:custGeom>
              <a:avLst/>
              <a:gdLst/>
              <a:ahLst/>
              <a:cxnLst/>
              <a:rect r="r" b="b" t="t" l="l"/>
              <a:pathLst>
                <a:path h="782266" w="2217594">
                  <a:moveTo>
                    <a:pt x="13792" y="0"/>
                  </a:moveTo>
                  <a:lnTo>
                    <a:pt x="2203802" y="0"/>
                  </a:lnTo>
                  <a:cubicBezTo>
                    <a:pt x="2207459" y="0"/>
                    <a:pt x="2210968" y="1453"/>
                    <a:pt x="2213554" y="4040"/>
                  </a:cubicBezTo>
                  <a:cubicBezTo>
                    <a:pt x="2216141" y="6626"/>
                    <a:pt x="2217594" y="10134"/>
                    <a:pt x="2217594" y="13792"/>
                  </a:cubicBezTo>
                  <a:lnTo>
                    <a:pt x="2217594" y="768474"/>
                  </a:lnTo>
                  <a:cubicBezTo>
                    <a:pt x="2217594" y="776091"/>
                    <a:pt x="2211419" y="782266"/>
                    <a:pt x="2203802" y="782266"/>
                  </a:cubicBezTo>
                  <a:lnTo>
                    <a:pt x="13792" y="782266"/>
                  </a:lnTo>
                  <a:cubicBezTo>
                    <a:pt x="10134" y="782266"/>
                    <a:pt x="6626" y="780813"/>
                    <a:pt x="4040" y="778226"/>
                  </a:cubicBezTo>
                  <a:cubicBezTo>
                    <a:pt x="1453" y="775640"/>
                    <a:pt x="0" y="772132"/>
                    <a:pt x="0" y="768474"/>
                  </a:cubicBezTo>
                  <a:lnTo>
                    <a:pt x="0" y="13792"/>
                  </a:lnTo>
                  <a:cubicBezTo>
                    <a:pt x="0" y="6175"/>
                    <a:pt x="6175" y="0"/>
                    <a:pt x="13792" y="0"/>
                  </a:cubicBezTo>
                  <a:close/>
                </a:path>
              </a:pathLst>
            </a:custGeom>
            <a:solidFill>
              <a:srgbClr val="004BB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17594" cy="8203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9104" y="699952"/>
            <a:ext cx="6415091" cy="123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60"/>
              </a:lnSpc>
            </a:pPr>
            <a:r>
              <a:rPr lang="en-US" b="true" sz="8000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Conclusões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2069" y="3343053"/>
            <a:ext cx="15612447" cy="473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O sistema </a:t>
            </a:r>
            <a:r>
              <a:rPr lang="en-US" sz="2599" spc="246" b="true">
                <a:solidFill>
                  <a:srgbClr val="CC4E00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AgendaCar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 se apresenta como uma solução viável para resolver um problema de mercado ainda pouco explorado, a gestão eficiente de agendamento de serviços automotivos. Nosso sistema apresenta interface atrativa e consistente, com fluxo de cadastro, orçamento e agendamento intuitivos, de fácil aprendizado.</a:t>
            </a:r>
          </a:p>
          <a:p>
            <a:pPr algn="l">
              <a:lnSpc>
                <a:spcPts val="50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Existem aspe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ct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os 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a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 se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r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em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 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melh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ora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d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o</a:t>
            </a:r>
            <a:r>
              <a:rPr lang="en-US" sz="2599" spc="246">
                <a:solidFill>
                  <a:srgbClr val="101010"/>
                </a:solidFill>
                <a:latin typeface="Helvetica Now"/>
                <a:ea typeface="Helvetica Now"/>
                <a:cs typeface="Helvetica Now"/>
                <a:sym typeface="Helvetica Now"/>
              </a:rPr>
              <a:t>s, alguns pontuais e simples, outros de alta severidade, capazes de impactar a utilização do sistema de forma negativa. No entanto, esses problemas são superados pelos benefícios a serem alcançados com a implantação do sistema, tanto para clientes quanto para prestadores de erviços. </a:t>
            </a:r>
          </a:p>
          <a:p>
            <a:pPr algn="l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99" r="0" b="-80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49605" y="-902170"/>
            <a:ext cx="8497474" cy="12091340"/>
            <a:chOff x="0" y="0"/>
            <a:chExt cx="2238018" cy="31845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38018" cy="3184551"/>
            </a:xfrm>
            <a:custGeom>
              <a:avLst/>
              <a:gdLst/>
              <a:ahLst/>
              <a:cxnLst/>
              <a:rect r="r" b="b" t="t" l="l"/>
              <a:pathLst>
                <a:path h="3184551" w="2238018">
                  <a:moveTo>
                    <a:pt x="0" y="0"/>
                  </a:moveTo>
                  <a:lnTo>
                    <a:pt x="2238018" y="0"/>
                  </a:lnTo>
                  <a:lnTo>
                    <a:pt x="2238018" y="3184551"/>
                  </a:lnTo>
                  <a:lnTo>
                    <a:pt x="0" y="3184551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38018" cy="3222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4965580"/>
            <a:ext cx="645491" cy="645491"/>
          </a:xfrm>
          <a:custGeom>
            <a:avLst/>
            <a:gdLst/>
            <a:ahLst/>
            <a:cxnLst/>
            <a:rect r="r" b="b" t="t" l="l"/>
            <a:pathLst>
              <a:path h="645491" w="645491">
                <a:moveTo>
                  <a:pt x="0" y="0"/>
                </a:moveTo>
                <a:lnTo>
                  <a:pt x="645491" y="0"/>
                </a:lnTo>
                <a:lnTo>
                  <a:pt x="645491" y="645492"/>
                </a:lnTo>
                <a:lnTo>
                  <a:pt x="0" y="6454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578533"/>
            <a:ext cx="645491" cy="645491"/>
          </a:xfrm>
          <a:custGeom>
            <a:avLst/>
            <a:gdLst/>
            <a:ahLst/>
            <a:cxnLst/>
            <a:rect r="r" b="b" t="t" l="l"/>
            <a:pathLst>
              <a:path h="645491" w="645491">
                <a:moveTo>
                  <a:pt x="0" y="0"/>
                </a:moveTo>
                <a:lnTo>
                  <a:pt x="645491" y="0"/>
                </a:lnTo>
                <a:lnTo>
                  <a:pt x="645491" y="645492"/>
                </a:lnTo>
                <a:lnTo>
                  <a:pt x="0" y="6454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191487"/>
            <a:ext cx="645491" cy="645491"/>
          </a:xfrm>
          <a:custGeom>
            <a:avLst/>
            <a:gdLst/>
            <a:ahLst/>
            <a:cxnLst/>
            <a:rect r="r" b="b" t="t" l="l"/>
            <a:pathLst>
              <a:path h="645491" w="645491">
                <a:moveTo>
                  <a:pt x="0" y="0"/>
                </a:moveTo>
                <a:lnTo>
                  <a:pt x="645491" y="0"/>
                </a:lnTo>
                <a:lnTo>
                  <a:pt x="645491" y="645491"/>
                </a:lnTo>
                <a:lnTo>
                  <a:pt x="0" y="645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505706" y="1028700"/>
            <a:ext cx="16230600" cy="10096418"/>
            <a:chOff x="0" y="0"/>
            <a:chExt cx="21640800" cy="134618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614439"/>
              <a:ext cx="21640800" cy="10847451"/>
            </a:xfrm>
            <a:custGeom>
              <a:avLst/>
              <a:gdLst/>
              <a:ahLst/>
              <a:cxnLst/>
              <a:rect r="r" b="b" t="t" l="l"/>
              <a:pathLst>
                <a:path h="10847451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0847451"/>
                  </a:lnTo>
                  <a:lnTo>
                    <a:pt x="0" y="10847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12116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8212116">
                  <a:moveTo>
                    <a:pt x="0" y="0"/>
                  </a:moveTo>
                  <a:lnTo>
                    <a:pt x="18212116" y="0"/>
                  </a:lnTo>
                  <a:lnTo>
                    <a:pt x="18212116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1000125"/>
            <a:ext cx="8115300" cy="154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200"/>
              </a:lnSpc>
            </a:pPr>
            <a:r>
              <a:rPr lang="en-US" b="true" sz="10000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Obrigado!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014660"/>
            <a:ext cx="811530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0"/>
              </a:lnSpc>
            </a:pPr>
            <a:r>
              <a:rPr lang="en-US" b="true" sz="3200" spc="217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Entre em contato conosco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23172" y="4984630"/>
            <a:ext cx="408443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204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(31) 9999-****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23172" y="5505383"/>
            <a:ext cx="40844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190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Whatsapp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23172" y="6597583"/>
            <a:ext cx="687189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204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agendacar@agendacar.com.br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23172" y="7118337"/>
            <a:ext cx="40844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190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E-mail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23172" y="8210537"/>
            <a:ext cx="547816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b="true" sz="3000" spc="204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www.agendacar.com.br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23172" y="8731290"/>
            <a:ext cx="40844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190" b="true">
                <a:solidFill>
                  <a:srgbClr val="FFFFFF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DAHMsX11_QA</dc:identifier>
  <dcterms:modified xsi:type="dcterms:W3CDTF">2011-08-01T06:04:30Z</dcterms:modified>
  <cp:revision>1</cp:revision>
  <dc:title>AgendaCar</dc:title>
</cp:coreProperties>
</file>